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370012" y="577453"/>
            <a:ext cx="7315201" cy="1251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294578" y="464311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6583680" y="-457202"/>
            <a:ext cx="3200402" cy="6035044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6766559" y="-457202"/>
            <a:ext cx="54866" cy="603504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" name="Shape 4"/>
          <p:cNvSpPr/>
          <p:nvPr/>
        </p:nvSpPr>
        <p:spPr>
          <a:xfrm>
            <a:off x="-2" y="0"/>
            <a:ext cx="6492244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" name="Text 5"/>
          <p:cNvSpPr txBox="1"/>
          <p:nvPr/>
        </p:nvSpPr>
        <p:spPr>
          <a:xfrm>
            <a:off x="457200" y="302259"/>
            <a:ext cx="5943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0C2FF"/>
                </a:solidFill>
              </a:defRPr>
            </a:lvl1pPr>
          </a:lstStyle>
          <a:p>
            <a:pPr/>
            <a:r>
              <a:t>ENFIBIO TECHNOLOGIES PVT. LTD.</a:t>
            </a:r>
          </a:p>
        </p:txBody>
      </p:sp>
      <p:sp>
        <p:nvSpPr>
          <p:cNvPr id="24" name="Text 6"/>
          <p:cNvSpPr txBox="1"/>
          <p:nvPr/>
        </p:nvSpPr>
        <p:spPr>
          <a:xfrm>
            <a:off x="457200" y="724300"/>
            <a:ext cx="5943600" cy="1157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0">
                <a:solidFill>
                  <a:srgbClr val="FFFFFF"/>
                </a:solidFill>
              </a:defRPr>
            </a:lvl1pPr>
          </a:lstStyle>
          <a:p>
            <a:pPr/>
            <a:r>
              <a:t>AIR</a:t>
            </a:r>
          </a:p>
        </p:txBody>
      </p:sp>
      <p:sp>
        <p:nvSpPr>
          <p:cNvPr id="25" name="Text 7"/>
          <p:cNvSpPr txBox="1"/>
          <p:nvPr/>
        </p:nvSpPr>
        <p:spPr>
          <a:xfrm>
            <a:off x="2423160" y="724300"/>
            <a:ext cx="3657602" cy="1157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0">
                <a:solidFill>
                  <a:srgbClr val="00C2FF"/>
                </a:solidFill>
              </a:defRPr>
            </a:lvl1pPr>
          </a:lstStyle>
          <a:p>
            <a:pPr/>
            <a:r>
              <a:t>OS</a:t>
            </a:r>
          </a:p>
        </p:txBody>
      </p:sp>
      <p:sp>
        <p:nvSpPr>
          <p:cNvPr id="26" name="Text 8"/>
          <p:cNvSpPr txBox="1"/>
          <p:nvPr/>
        </p:nvSpPr>
        <p:spPr>
          <a:xfrm>
            <a:off x="457200" y="1913715"/>
            <a:ext cx="5943600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E8EEF8"/>
                </a:solidFill>
              </a:defRPr>
            </a:lvl1pPr>
          </a:lstStyle>
          <a:p>
            <a:pPr/>
            <a:r>
              <a:t>AI-Native Orchestration Runtime</a:t>
            </a:r>
          </a:p>
        </p:txBody>
      </p:sp>
      <p:sp>
        <p:nvSpPr>
          <p:cNvPr id="27" name="Text 9"/>
          <p:cNvSpPr txBox="1"/>
          <p:nvPr/>
        </p:nvSpPr>
        <p:spPr>
          <a:xfrm>
            <a:off x="457200" y="2279476"/>
            <a:ext cx="594360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8898AA"/>
                </a:solidFill>
              </a:defRPr>
            </a:lvl1pPr>
          </a:lstStyle>
          <a:p>
            <a:pPr/>
            <a:r>
              <a:t>for Robotics &amp; Edge Systems</a:t>
            </a:r>
          </a:p>
        </p:txBody>
      </p:sp>
      <p:sp>
        <p:nvSpPr>
          <p:cNvPr id="28" name="Shape 10"/>
          <p:cNvSpPr/>
          <p:nvPr/>
        </p:nvSpPr>
        <p:spPr>
          <a:xfrm>
            <a:off x="457200" y="2651760"/>
            <a:ext cx="2286000" cy="3657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" name="Text 11"/>
          <p:cNvSpPr txBox="1"/>
          <p:nvPr/>
        </p:nvSpPr>
        <p:spPr>
          <a:xfrm>
            <a:off x="457200" y="2945700"/>
            <a:ext cx="59436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FFB830"/>
                </a:solidFill>
              </a:defRPr>
            </a:lvl1pPr>
          </a:lstStyle>
          <a:p>
            <a:pPr/>
            <a:r>
              <a:t>From intent to real-world action.</a:t>
            </a:r>
          </a:p>
        </p:txBody>
      </p:sp>
      <p:sp>
        <p:nvSpPr>
          <p:cNvPr id="30" name="Shape 12"/>
          <p:cNvSpPr/>
          <p:nvPr/>
        </p:nvSpPr>
        <p:spPr>
          <a:xfrm>
            <a:off x="457198" y="3428998"/>
            <a:ext cx="2194563" cy="50292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" name="Text 13"/>
          <p:cNvSpPr txBox="1"/>
          <p:nvPr/>
        </p:nvSpPr>
        <p:spPr>
          <a:xfrm>
            <a:off x="502919" y="3567605"/>
            <a:ext cx="2103123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100">
                <a:solidFill>
                  <a:srgbClr val="040810"/>
                </a:solidFill>
              </a:defRPr>
            </a:lvl1pPr>
          </a:lstStyle>
          <a:p>
            <a:pPr/>
            <a:r>
              <a:t>Raising ₹50,00,000 Pre-Seed</a:t>
            </a:r>
          </a:p>
        </p:txBody>
      </p:sp>
      <p:sp>
        <p:nvSpPr>
          <p:cNvPr id="32" name="Text 14"/>
          <p:cNvSpPr txBox="1"/>
          <p:nvPr/>
        </p:nvSpPr>
        <p:spPr>
          <a:xfrm>
            <a:off x="6858000" y="2839720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800">
                <a:solidFill>
                  <a:srgbClr val="00C2FF"/>
                </a:solidFill>
              </a:defRPr>
            </a:lvl1pPr>
          </a:lstStyle>
          <a:p>
            <a:pPr/>
            <a:r>
              <a:t>CONTACT</a:t>
            </a:r>
          </a:p>
        </p:txBody>
      </p:sp>
      <p:sp>
        <p:nvSpPr>
          <p:cNvPr id="33" name="Text 15"/>
          <p:cNvSpPr txBox="1"/>
          <p:nvPr/>
        </p:nvSpPr>
        <p:spPr>
          <a:xfrm>
            <a:off x="6858000" y="3159759"/>
            <a:ext cx="20116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Enfibio Technologies Pvt. Ltd.</a:t>
            </a:r>
          </a:p>
        </p:txBody>
      </p:sp>
      <p:sp>
        <p:nvSpPr>
          <p:cNvPr id="34" name="Text 16"/>
          <p:cNvSpPr txBox="1"/>
          <p:nvPr/>
        </p:nvSpPr>
        <p:spPr>
          <a:xfrm>
            <a:off x="6857999" y="3411218"/>
            <a:ext cx="21945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8898AA"/>
                </a:solidFill>
              </a:defRPr>
            </a:lvl1pPr>
          </a:lstStyle>
          <a:p>
            <a:pPr/>
            <a:r>
              <a:t>enfibiotechnologiespvtltd@gmail.com</a:t>
            </a:r>
          </a:p>
        </p:txBody>
      </p:sp>
      <p:sp>
        <p:nvSpPr>
          <p:cNvPr id="35" name="Shape 17"/>
          <p:cNvSpPr/>
          <p:nvPr/>
        </p:nvSpPr>
        <p:spPr>
          <a:xfrm>
            <a:off x="0" y="5047488"/>
            <a:ext cx="9144000" cy="91442"/>
          </a:xfrm>
          <a:prstGeom prst="rect">
            <a:avLst/>
          </a:prstGeom>
          <a:solidFill>
            <a:srgbClr val="1E2D54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" name="Text 18"/>
          <p:cNvSpPr txBox="1"/>
          <p:nvPr/>
        </p:nvSpPr>
        <p:spPr>
          <a:xfrm>
            <a:off x="45718" y="4885472"/>
            <a:ext cx="9052564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800">
                <a:solidFill>
                  <a:srgbClr val="8898AA"/>
                </a:solidFill>
              </a:defRPr>
            </a:lvl1pPr>
          </a:lstStyle>
          <a:p>
            <a:pPr/>
            <a:r>
              <a:t>CONFIDENTIAL  Pre-Seed Investment Round 2026</a:t>
            </a:r>
          </a:p>
        </p:txBody>
      </p:sp>
      <p:pic>
        <p:nvPicPr>
          <p:cNvPr id="3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53250" y="94171"/>
            <a:ext cx="2004059" cy="18141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" name="Text 1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00C2FF"/>
                </a:solidFill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41" name="Shape 2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" name="Text 3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Robotics &amp; AI Systems Are Broken</a:t>
            </a:r>
          </a:p>
        </p:txBody>
      </p:sp>
      <p:sp>
        <p:nvSpPr>
          <p:cNvPr id="43" name="Shape 4"/>
          <p:cNvSpPr/>
          <p:nvPr/>
        </p:nvSpPr>
        <p:spPr>
          <a:xfrm>
            <a:off x="320040" y="1417319"/>
            <a:ext cx="2743202" cy="2286001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554480"/>
            <a:ext cx="457200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Text 5"/>
          <p:cNvSpPr txBox="1"/>
          <p:nvPr/>
        </p:nvSpPr>
        <p:spPr>
          <a:xfrm>
            <a:off x="457198" y="2202619"/>
            <a:ext cx="242316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Fragmented Stack</a:t>
            </a:r>
          </a:p>
        </p:txBody>
      </p:sp>
      <p:sp>
        <p:nvSpPr>
          <p:cNvPr id="46" name="Text 6"/>
          <p:cNvSpPr txBox="1"/>
          <p:nvPr/>
        </p:nvSpPr>
        <p:spPr>
          <a:xfrm>
            <a:off x="457198" y="2866433"/>
            <a:ext cx="2423163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98AA"/>
                </a:solidFill>
              </a:defRPr>
            </a:lvl1pPr>
          </a:lstStyle>
          <a:p>
            <a:pPr/>
            <a:r>
              <a:t>Developers stitch together ROS2, Python, cloud APIs, and custom scripts — no cohesion.</a:t>
            </a:r>
          </a:p>
        </p:txBody>
      </p:sp>
      <p:sp>
        <p:nvSpPr>
          <p:cNvPr id="47" name="Shape 7"/>
          <p:cNvSpPr/>
          <p:nvPr/>
        </p:nvSpPr>
        <p:spPr>
          <a:xfrm>
            <a:off x="3200400" y="1417319"/>
            <a:ext cx="2743200" cy="2286001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37559" y="1554480"/>
            <a:ext cx="457202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 8"/>
          <p:cNvSpPr txBox="1"/>
          <p:nvPr/>
        </p:nvSpPr>
        <p:spPr>
          <a:xfrm>
            <a:off x="3337559" y="2202619"/>
            <a:ext cx="242316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High Latency</a:t>
            </a:r>
          </a:p>
        </p:txBody>
      </p:sp>
      <p:sp>
        <p:nvSpPr>
          <p:cNvPr id="50" name="Text 9"/>
          <p:cNvSpPr txBox="1"/>
          <p:nvPr/>
        </p:nvSpPr>
        <p:spPr>
          <a:xfrm>
            <a:off x="3337559" y="2783883"/>
            <a:ext cx="2423162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98AA"/>
                </a:solidFill>
              </a:defRPr>
            </a:lvl1pPr>
          </a:lstStyle>
          <a:p>
            <a:pPr/>
            <a:r>
              <a:t>Brittle pipelines with no unified execution layer cause failure under real-world conditions.</a:t>
            </a:r>
          </a:p>
        </p:txBody>
      </p:sp>
      <p:sp>
        <p:nvSpPr>
          <p:cNvPr id="51" name="Shape 10"/>
          <p:cNvSpPr/>
          <p:nvPr/>
        </p:nvSpPr>
        <p:spPr>
          <a:xfrm>
            <a:off x="6080759" y="1417319"/>
            <a:ext cx="2743202" cy="2286001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2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17920" y="1554480"/>
            <a:ext cx="457202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Text 11"/>
          <p:cNvSpPr txBox="1"/>
          <p:nvPr/>
        </p:nvSpPr>
        <p:spPr>
          <a:xfrm>
            <a:off x="6217920" y="2202619"/>
            <a:ext cx="242316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No Intelligence</a:t>
            </a:r>
          </a:p>
        </p:txBody>
      </p:sp>
      <p:sp>
        <p:nvSpPr>
          <p:cNvPr id="54" name="Text 12"/>
          <p:cNvSpPr txBox="1"/>
          <p:nvPr/>
        </p:nvSpPr>
        <p:spPr>
          <a:xfrm>
            <a:off x="6217920" y="2866433"/>
            <a:ext cx="242316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98AA"/>
                </a:solidFill>
              </a:defRPr>
            </a:lvl1pPr>
          </a:lstStyle>
          <a:p>
            <a:pPr/>
            <a:r>
              <a:t>Operating systems manage processes — not intelligence. AI is bolted on, not built in.</a:t>
            </a:r>
          </a:p>
        </p:txBody>
      </p:sp>
      <p:sp>
        <p:nvSpPr>
          <p:cNvPr id="55" name="Shape 13"/>
          <p:cNvSpPr/>
          <p:nvPr/>
        </p:nvSpPr>
        <p:spPr>
          <a:xfrm>
            <a:off x="320040" y="3840479"/>
            <a:ext cx="8503920" cy="822962"/>
          </a:xfrm>
          <a:prstGeom prst="rect">
            <a:avLst/>
          </a:prstGeom>
          <a:solidFill>
            <a:srgbClr val="200010"/>
          </a:solidFill>
          <a:ln w="12700">
            <a:solidFill>
              <a:srgbClr val="FF4466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" name="Text 14"/>
          <p:cNvSpPr txBox="1"/>
          <p:nvPr/>
        </p:nvSpPr>
        <p:spPr>
          <a:xfrm>
            <a:off x="457200" y="4118609"/>
            <a:ext cx="822960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6688"/>
                </a:solidFill>
              </a:defRPr>
            </a:lvl1pPr>
          </a:lstStyle>
          <a:p>
            <a:pPr/>
            <a:r>
              <a:t>⚡  Core Issue:  </a:t>
            </a:r>
          </a:p>
        </p:txBody>
      </p:sp>
      <p:sp>
        <p:nvSpPr>
          <p:cNvPr id="57" name="Text 15"/>
          <p:cNvSpPr txBox="1"/>
          <p:nvPr/>
        </p:nvSpPr>
        <p:spPr>
          <a:xfrm>
            <a:off x="1691638" y="4168578"/>
            <a:ext cx="704088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E8EEF8"/>
                </a:solidFill>
              </a:defRPr>
            </a:lvl1pPr>
          </a:lstStyle>
          <a:p>
            <a:pPr/>
            <a:r>
              <a:t>Operating systems manage processes, not intelligence.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" name="Text 1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00C2FF"/>
                </a:solidFill>
              </a:defRPr>
            </a:lvl1pPr>
          </a:lstStyle>
          <a:p>
            <a:pPr/>
            <a:r>
              <a:t>MARKET CONTEXT</a:t>
            </a:r>
          </a:p>
        </p:txBody>
      </p:sp>
      <p:sp>
        <p:nvSpPr>
          <p:cNvPr id="61" name="Shape 2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" name="Text 3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Why This Matters Now</a:t>
            </a:r>
          </a:p>
        </p:txBody>
      </p:sp>
      <p:sp>
        <p:nvSpPr>
          <p:cNvPr id="63" name="Shape 4"/>
          <p:cNvSpPr/>
          <p:nvPr/>
        </p:nvSpPr>
        <p:spPr>
          <a:xfrm>
            <a:off x="320038" y="1325878"/>
            <a:ext cx="3474724" cy="1280163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" name="Text 5"/>
          <p:cNvSpPr txBox="1"/>
          <p:nvPr/>
        </p:nvSpPr>
        <p:spPr>
          <a:xfrm>
            <a:off x="457200" y="1505128"/>
            <a:ext cx="3200400" cy="51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00C2FF"/>
                </a:solidFill>
              </a:defRPr>
            </a:lvl1pPr>
          </a:lstStyle>
          <a:p>
            <a:pPr/>
            <a:r>
              <a:t>$218B</a:t>
            </a:r>
          </a:p>
        </p:txBody>
      </p:sp>
      <p:sp>
        <p:nvSpPr>
          <p:cNvPr id="65" name="Text 6"/>
          <p:cNvSpPr txBox="1"/>
          <p:nvPr/>
        </p:nvSpPr>
        <p:spPr>
          <a:xfrm>
            <a:off x="457200" y="2173146"/>
            <a:ext cx="32004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898AA"/>
                </a:solidFill>
              </a:defRPr>
            </a:lvl1pPr>
          </a:lstStyle>
          <a:p>
            <a:pPr/>
            <a:r>
              <a:t>Global Robotics Market by 2030</a:t>
            </a:r>
          </a:p>
        </p:txBody>
      </p:sp>
      <p:sp>
        <p:nvSpPr>
          <p:cNvPr id="66" name="Shape 7"/>
          <p:cNvSpPr/>
          <p:nvPr/>
        </p:nvSpPr>
        <p:spPr>
          <a:xfrm>
            <a:off x="320038" y="2834638"/>
            <a:ext cx="3474724" cy="1280162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" name="Text 8"/>
          <p:cNvSpPr txBox="1"/>
          <p:nvPr/>
        </p:nvSpPr>
        <p:spPr>
          <a:xfrm>
            <a:off x="457200" y="3013887"/>
            <a:ext cx="3200400" cy="510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00E5A0"/>
                </a:solidFill>
              </a:defRPr>
            </a:lvl1pPr>
          </a:lstStyle>
          <a:p>
            <a:pPr/>
            <a:r>
              <a:t>42%</a:t>
            </a:r>
          </a:p>
        </p:txBody>
      </p:sp>
      <p:sp>
        <p:nvSpPr>
          <p:cNvPr id="68" name="Text 9"/>
          <p:cNvSpPr txBox="1"/>
          <p:nvPr/>
        </p:nvSpPr>
        <p:spPr>
          <a:xfrm>
            <a:off x="457200" y="3681906"/>
            <a:ext cx="32004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898AA"/>
                </a:solidFill>
              </a:defRPr>
            </a:lvl1pPr>
          </a:lstStyle>
          <a:p>
            <a:pPr/>
            <a:r>
              <a:t>CAGR in Edge AI Deployments</a:t>
            </a:r>
          </a:p>
        </p:txBody>
      </p:sp>
      <p:sp>
        <p:nvSpPr>
          <p:cNvPr id="69" name="Text 10"/>
          <p:cNvSpPr txBox="1"/>
          <p:nvPr/>
        </p:nvSpPr>
        <p:spPr>
          <a:xfrm>
            <a:off x="4114800" y="1285238"/>
            <a:ext cx="47548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00C2FF"/>
                </a:solidFill>
              </a:defRPr>
            </a:lvl1pPr>
          </a:lstStyle>
          <a:p>
            <a:pPr/>
            <a:r>
              <a:t>ACCELERATING SECTORS</a:t>
            </a:r>
          </a:p>
        </p:txBody>
      </p:sp>
      <p:sp>
        <p:nvSpPr>
          <p:cNvPr id="70" name="Shape 11"/>
          <p:cNvSpPr/>
          <p:nvPr/>
        </p:nvSpPr>
        <p:spPr>
          <a:xfrm>
            <a:off x="4114800" y="1600199"/>
            <a:ext cx="4709160" cy="777243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" name="Shape 12"/>
          <p:cNvSpPr/>
          <p:nvPr/>
        </p:nvSpPr>
        <p:spPr>
          <a:xfrm>
            <a:off x="4114800" y="1600199"/>
            <a:ext cx="54864" cy="777243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7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51959" y="1764792"/>
            <a:ext cx="365762" cy="365762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 13"/>
          <p:cNvSpPr txBox="1"/>
          <p:nvPr/>
        </p:nvSpPr>
        <p:spPr>
          <a:xfrm>
            <a:off x="4754879" y="1773227"/>
            <a:ext cx="384048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Autonomous Drones</a:t>
            </a:r>
          </a:p>
        </p:txBody>
      </p:sp>
      <p:sp>
        <p:nvSpPr>
          <p:cNvPr id="74" name="Text 14"/>
          <p:cNvSpPr txBox="1"/>
          <p:nvPr/>
        </p:nvSpPr>
        <p:spPr>
          <a:xfrm>
            <a:off x="4754879" y="2080303"/>
            <a:ext cx="38404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98AA"/>
                </a:solidFill>
              </a:defRPr>
            </a:lvl1pPr>
          </a:lstStyle>
          <a:p>
            <a:pPr/>
            <a:r>
              <a:t>Real-time path planning &amp; obstacle avoidance</a:t>
            </a:r>
          </a:p>
        </p:txBody>
      </p:sp>
      <p:sp>
        <p:nvSpPr>
          <p:cNvPr id="75" name="Shape 15"/>
          <p:cNvSpPr/>
          <p:nvPr/>
        </p:nvSpPr>
        <p:spPr>
          <a:xfrm>
            <a:off x="4114800" y="2514599"/>
            <a:ext cx="4709160" cy="777243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" name="Shape 16"/>
          <p:cNvSpPr/>
          <p:nvPr/>
        </p:nvSpPr>
        <p:spPr>
          <a:xfrm>
            <a:off x="4114800" y="2514599"/>
            <a:ext cx="54864" cy="777243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7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51959" y="2679192"/>
            <a:ext cx="365762" cy="365762"/>
          </a:xfrm>
          <a:prstGeom prst="rect">
            <a:avLst/>
          </a:prstGeom>
          <a:ln w="12700">
            <a:miter lim="400000"/>
          </a:ln>
        </p:spPr>
      </p:pic>
      <p:sp>
        <p:nvSpPr>
          <p:cNvPr id="78" name="Text 17"/>
          <p:cNvSpPr txBox="1"/>
          <p:nvPr/>
        </p:nvSpPr>
        <p:spPr>
          <a:xfrm>
            <a:off x="4754879" y="2687627"/>
            <a:ext cx="384048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Defense &amp; Surveillance</a:t>
            </a:r>
          </a:p>
        </p:txBody>
      </p:sp>
      <p:sp>
        <p:nvSpPr>
          <p:cNvPr id="79" name="Text 18"/>
          <p:cNvSpPr txBox="1"/>
          <p:nvPr/>
        </p:nvSpPr>
        <p:spPr>
          <a:xfrm>
            <a:off x="4754879" y="2994703"/>
            <a:ext cx="38404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98AA"/>
                </a:solidFill>
              </a:defRPr>
            </a:lvl1pPr>
          </a:lstStyle>
          <a:p>
            <a:pPr/>
            <a:r>
              <a:t>Edge AI where cloud latency is fatal</a:t>
            </a:r>
          </a:p>
        </p:txBody>
      </p:sp>
      <p:sp>
        <p:nvSpPr>
          <p:cNvPr id="80" name="Shape 19"/>
          <p:cNvSpPr/>
          <p:nvPr/>
        </p:nvSpPr>
        <p:spPr>
          <a:xfrm>
            <a:off x="4114800" y="3428998"/>
            <a:ext cx="4709160" cy="777243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" name="Shape 20"/>
          <p:cNvSpPr/>
          <p:nvPr/>
        </p:nvSpPr>
        <p:spPr>
          <a:xfrm>
            <a:off x="4114800" y="3428998"/>
            <a:ext cx="54864" cy="777243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82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51959" y="3593591"/>
            <a:ext cx="365762" cy="365762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Text 21"/>
          <p:cNvSpPr txBox="1"/>
          <p:nvPr/>
        </p:nvSpPr>
        <p:spPr>
          <a:xfrm>
            <a:off x="4754879" y="3602026"/>
            <a:ext cx="38404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Logistics Robotics</a:t>
            </a:r>
          </a:p>
        </p:txBody>
      </p:sp>
      <p:sp>
        <p:nvSpPr>
          <p:cNvPr id="84" name="Text 22"/>
          <p:cNvSpPr txBox="1"/>
          <p:nvPr/>
        </p:nvSpPr>
        <p:spPr>
          <a:xfrm>
            <a:off x="4754879" y="3909104"/>
            <a:ext cx="384048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98AA"/>
                </a:solidFill>
              </a:defRPr>
            </a:lvl1pPr>
          </a:lstStyle>
          <a:p>
            <a:pPr/>
            <a:r>
              <a:t>Warehouse automation &amp; last-mile delivery</a:t>
            </a:r>
          </a:p>
        </p:txBody>
      </p:sp>
      <p:sp>
        <p:nvSpPr>
          <p:cNvPr id="85" name="Shape 23"/>
          <p:cNvSpPr/>
          <p:nvPr/>
        </p:nvSpPr>
        <p:spPr>
          <a:xfrm>
            <a:off x="320040" y="4297679"/>
            <a:ext cx="8503920" cy="640082"/>
          </a:xfrm>
          <a:prstGeom prst="rect">
            <a:avLst/>
          </a:prstGeom>
          <a:solidFill>
            <a:srgbClr val="1A1000"/>
          </a:solidFill>
          <a:ln w="12700">
            <a:solidFill>
              <a:srgbClr val="FFB83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" name="Text 24"/>
          <p:cNvSpPr txBox="1"/>
          <p:nvPr/>
        </p:nvSpPr>
        <p:spPr>
          <a:xfrm>
            <a:off x="502919" y="4507991"/>
            <a:ext cx="8229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B830"/>
                </a:solidFill>
              </a:defRPr>
            </a:lvl1pPr>
          </a:lstStyle>
          <a:p>
            <a:pPr/>
            <a:r>
              <a:t>⚠️  There is no system that routes intelligence in real time across AI models and hardware.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" name="Text 1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00C2FF"/>
                </a:solidFill>
              </a:defRPr>
            </a:lvl1pPr>
          </a:lstStyle>
          <a:p>
            <a:pPr/>
            <a:r>
              <a:t>OUR SOLUTION</a:t>
            </a:r>
          </a:p>
        </p:txBody>
      </p:sp>
      <p:sp>
        <p:nvSpPr>
          <p:cNvPr id="90" name="Shape 2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" name="Text 3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AIR OS = AI Orchestration Runtime</a:t>
            </a:r>
          </a:p>
        </p:txBody>
      </p:sp>
      <p:sp>
        <p:nvSpPr>
          <p:cNvPr id="92" name="Shape 4"/>
          <p:cNvSpPr/>
          <p:nvPr/>
        </p:nvSpPr>
        <p:spPr>
          <a:xfrm>
            <a:off x="3200400" y="1280159"/>
            <a:ext cx="2743200" cy="2743204"/>
          </a:xfrm>
          <a:prstGeom prst="ellipse">
            <a:avLst/>
          </a:prstGeom>
          <a:solidFill>
            <a:srgbClr val="00C2FF">
              <a:alpha val="12000"/>
            </a:srgbClr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" name="Shape 5"/>
          <p:cNvSpPr/>
          <p:nvPr/>
        </p:nvSpPr>
        <p:spPr>
          <a:xfrm>
            <a:off x="3566159" y="1645920"/>
            <a:ext cx="2011683" cy="2011683"/>
          </a:xfrm>
          <a:prstGeom prst="ellipse">
            <a:avLst/>
          </a:prstGeom>
          <a:solidFill>
            <a:srgbClr val="00C2FF">
              <a:alpha val="25000"/>
            </a:srgbClr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" name="Text 6"/>
          <p:cNvSpPr txBox="1"/>
          <p:nvPr/>
        </p:nvSpPr>
        <p:spPr>
          <a:xfrm>
            <a:off x="3291840" y="2481669"/>
            <a:ext cx="2560322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0C2FF"/>
                </a:solidFill>
              </a:defRPr>
            </a:lvl1pPr>
          </a:lstStyle>
          <a:p>
            <a:pPr/>
            <a:r>
              <a:t>AIR OS</a:t>
            </a:r>
          </a:p>
        </p:txBody>
      </p:sp>
      <p:sp>
        <p:nvSpPr>
          <p:cNvPr id="95" name="Text 7"/>
          <p:cNvSpPr txBox="1"/>
          <p:nvPr/>
        </p:nvSpPr>
        <p:spPr>
          <a:xfrm>
            <a:off x="3291840" y="2931159"/>
            <a:ext cx="2560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900">
                <a:solidFill>
                  <a:srgbClr val="8898AA"/>
                </a:solidFill>
              </a:defRPr>
            </a:lvl1pPr>
          </a:lstStyle>
          <a:p>
            <a:pPr/>
            <a:r>
              <a:t>CORE</a:t>
            </a:r>
          </a:p>
        </p:txBody>
      </p:sp>
      <p:sp>
        <p:nvSpPr>
          <p:cNvPr id="96" name="Shape 8"/>
          <p:cNvSpPr/>
          <p:nvPr/>
        </p:nvSpPr>
        <p:spPr>
          <a:xfrm>
            <a:off x="182879" y="1188719"/>
            <a:ext cx="2651762" cy="1463043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9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0040" y="1371600"/>
            <a:ext cx="457202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Text 9"/>
          <p:cNvSpPr txBox="1"/>
          <p:nvPr/>
        </p:nvSpPr>
        <p:spPr>
          <a:xfrm>
            <a:off x="868680" y="1609396"/>
            <a:ext cx="182880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Understands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Intent</a:t>
            </a:r>
          </a:p>
        </p:txBody>
      </p:sp>
      <p:sp>
        <p:nvSpPr>
          <p:cNvPr id="99" name="Shape 10"/>
          <p:cNvSpPr/>
          <p:nvPr/>
        </p:nvSpPr>
        <p:spPr>
          <a:xfrm>
            <a:off x="2834638" y="1920239"/>
            <a:ext cx="365762" cy="2"/>
          </a:xfrm>
          <a:prstGeom prst="line">
            <a:avLst/>
          </a:prstGeom>
          <a:ln w="12700">
            <a:solidFill>
              <a:srgbClr val="1E2D54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" name="Shape 11"/>
          <p:cNvSpPr/>
          <p:nvPr/>
        </p:nvSpPr>
        <p:spPr>
          <a:xfrm>
            <a:off x="182879" y="3200399"/>
            <a:ext cx="2651762" cy="1463043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01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0040" y="3383279"/>
            <a:ext cx="457202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ext 12"/>
          <p:cNvSpPr txBox="1"/>
          <p:nvPr/>
        </p:nvSpPr>
        <p:spPr>
          <a:xfrm>
            <a:off x="868680" y="3621076"/>
            <a:ext cx="182880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Unified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Runtime</a:t>
            </a:r>
          </a:p>
        </p:txBody>
      </p:sp>
      <p:sp>
        <p:nvSpPr>
          <p:cNvPr id="103" name="Shape 13"/>
          <p:cNvSpPr/>
          <p:nvPr/>
        </p:nvSpPr>
        <p:spPr>
          <a:xfrm>
            <a:off x="2834638" y="3931919"/>
            <a:ext cx="365762" cy="2"/>
          </a:xfrm>
          <a:prstGeom prst="line">
            <a:avLst/>
          </a:prstGeom>
          <a:ln w="12700">
            <a:solidFill>
              <a:srgbClr val="1E2D54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" name="Shape 14"/>
          <p:cNvSpPr/>
          <p:nvPr/>
        </p:nvSpPr>
        <p:spPr>
          <a:xfrm>
            <a:off x="6400798" y="1188719"/>
            <a:ext cx="2651763" cy="1463043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05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37959" y="1371600"/>
            <a:ext cx="457202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Text 15"/>
          <p:cNvSpPr txBox="1"/>
          <p:nvPr/>
        </p:nvSpPr>
        <p:spPr>
          <a:xfrm>
            <a:off x="7086600" y="1609396"/>
            <a:ext cx="182880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Routes to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Right Model</a:t>
            </a:r>
          </a:p>
        </p:txBody>
      </p:sp>
      <p:sp>
        <p:nvSpPr>
          <p:cNvPr id="107" name="Shape 16"/>
          <p:cNvSpPr/>
          <p:nvPr/>
        </p:nvSpPr>
        <p:spPr>
          <a:xfrm>
            <a:off x="6400800" y="1920239"/>
            <a:ext cx="457202" cy="2"/>
          </a:xfrm>
          <a:prstGeom prst="line">
            <a:avLst/>
          </a:prstGeom>
          <a:ln w="12700">
            <a:solidFill>
              <a:srgbClr val="1E2D54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" name="Shape 17"/>
          <p:cNvSpPr/>
          <p:nvPr/>
        </p:nvSpPr>
        <p:spPr>
          <a:xfrm>
            <a:off x="6400798" y="3200399"/>
            <a:ext cx="2651763" cy="1463043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09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537959" y="3383279"/>
            <a:ext cx="457202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Text 18"/>
          <p:cNvSpPr txBox="1"/>
          <p:nvPr/>
        </p:nvSpPr>
        <p:spPr>
          <a:xfrm>
            <a:off x="7086600" y="3621076"/>
            <a:ext cx="182880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Executes on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Hardware</a:t>
            </a:r>
          </a:p>
        </p:txBody>
      </p:sp>
      <p:sp>
        <p:nvSpPr>
          <p:cNvPr id="111" name="Shape 19"/>
          <p:cNvSpPr/>
          <p:nvPr/>
        </p:nvSpPr>
        <p:spPr>
          <a:xfrm>
            <a:off x="6400800" y="3931919"/>
            <a:ext cx="457202" cy="2"/>
          </a:xfrm>
          <a:prstGeom prst="line">
            <a:avLst/>
          </a:prstGeom>
          <a:ln w="12700">
            <a:solidFill>
              <a:srgbClr val="1E2D54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" name="Text 1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00C2FF"/>
                </a:solidFill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115" name="Shape 2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" name="Text 3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Intent → Execution Pipeline</a:t>
            </a:r>
          </a:p>
        </p:txBody>
      </p:sp>
      <p:sp>
        <p:nvSpPr>
          <p:cNvPr id="117" name="Shape 4"/>
          <p:cNvSpPr/>
          <p:nvPr/>
        </p:nvSpPr>
        <p:spPr>
          <a:xfrm>
            <a:off x="274319" y="1828800"/>
            <a:ext cx="1234443" cy="914400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" name="Shape 5"/>
          <p:cNvSpPr/>
          <p:nvPr/>
        </p:nvSpPr>
        <p:spPr>
          <a:xfrm>
            <a:off x="274319" y="1828799"/>
            <a:ext cx="1234443" cy="45723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" name="Text 6"/>
          <p:cNvSpPr txBox="1"/>
          <p:nvPr/>
        </p:nvSpPr>
        <p:spPr>
          <a:xfrm>
            <a:off x="329184" y="2057907"/>
            <a:ext cx="112471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PROMPT</a:t>
            </a:r>
          </a:p>
        </p:txBody>
      </p:sp>
      <p:sp>
        <p:nvSpPr>
          <p:cNvPr id="120" name="Text 7"/>
          <p:cNvSpPr txBox="1"/>
          <p:nvPr/>
        </p:nvSpPr>
        <p:spPr>
          <a:xfrm>
            <a:off x="329184" y="2394238"/>
            <a:ext cx="1124712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8AA"/>
                </a:solidFill>
              </a:defRPr>
            </a:lvl1pPr>
          </a:lstStyle>
          <a:p>
            <a:pPr/>
            <a:r>
              <a:t>Natural language or structured intent input</a:t>
            </a:r>
          </a:p>
        </p:txBody>
      </p:sp>
      <p:sp>
        <p:nvSpPr>
          <p:cNvPr id="121" name="Shape 8"/>
          <p:cNvSpPr/>
          <p:nvPr/>
        </p:nvSpPr>
        <p:spPr>
          <a:xfrm>
            <a:off x="1545336" y="2286000"/>
            <a:ext cx="128018" cy="0"/>
          </a:xfrm>
          <a:prstGeom prst="line">
            <a:avLst/>
          </a:prstGeom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" name="Shape 9"/>
          <p:cNvSpPr/>
          <p:nvPr/>
        </p:nvSpPr>
        <p:spPr>
          <a:xfrm>
            <a:off x="1600200" y="2231134"/>
            <a:ext cx="109728" cy="10973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" name="Shape 10"/>
          <p:cNvSpPr/>
          <p:nvPr/>
        </p:nvSpPr>
        <p:spPr>
          <a:xfrm>
            <a:off x="1709927" y="1828800"/>
            <a:ext cx="1234443" cy="914400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" name="Shape 11"/>
          <p:cNvSpPr/>
          <p:nvPr/>
        </p:nvSpPr>
        <p:spPr>
          <a:xfrm>
            <a:off x="1709927" y="1828799"/>
            <a:ext cx="1234443" cy="45723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" name="Text 12"/>
          <p:cNvSpPr txBox="1"/>
          <p:nvPr/>
        </p:nvSpPr>
        <p:spPr>
          <a:xfrm>
            <a:off x="1764792" y="2057907"/>
            <a:ext cx="11247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INTENT</a:t>
            </a:r>
          </a:p>
        </p:txBody>
      </p:sp>
      <p:sp>
        <p:nvSpPr>
          <p:cNvPr id="126" name="Text 13"/>
          <p:cNvSpPr txBox="1"/>
          <p:nvPr/>
        </p:nvSpPr>
        <p:spPr>
          <a:xfrm>
            <a:off x="1764792" y="2394238"/>
            <a:ext cx="1124714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8AA"/>
                </a:solidFill>
              </a:defRPr>
            </a:lvl1pPr>
          </a:lstStyle>
          <a:p>
            <a:pPr/>
            <a:r>
              <a:t>Semantic parsing &amp; task decomposition</a:t>
            </a:r>
          </a:p>
        </p:txBody>
      </p:sp>
      <p:sp>
        <p:nvSpPr>
          <p:cNvPr id="127" name="Shape 14"/>
          <p:cNvSpPr/>
          <p:nvPr/>
        </p:nvSpPr>
        <p:spPr>
          <a:xfrm>
            <a:off x="2980944" y="2286000"/>
            <a:ext cx="128018" cy="0"/>
          </a:xfrm>
          <a:prstGeom prst="line">
            <a:avLst/>
          </a:prstGeom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" name="Shape 15"/>
          <p:cNvSpPr/>
          <p:nvPr/>
        </p:nvSpPr>
        <p:spPr>
          <a:xfrm>
            <a:off x="3035806" y="2231134"/>
            <a:ext cx="109730" cy="10973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" name="Shape 16"/>
          <p:cNvSpPr/>
          <p:nvPr/>
        </p:nvSpPr>
        <p:spPr>
          <a:xfrm>
            <a:off x="3145534" y="1828800"/>
            <a:ext cx="1234442" cy="914400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" name="Shape 17"/>
          <p:cNvSpPr/>
          <p:nvPr/>
        </p:nvSpPr>
        <p:spPr>
          <a:xfrm>
            <a:off x="3145534" y="1828799"/>
            <a:ext cx="1234442" cy="45723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" name="Text 18"/>
          <p:cNvSpPr txBox="1"/>
          <p:nvPr/>
        </p:nvSpPr>
        <p:spPr>
          <a:xfrm>
            <a:off x="3200400" y="2057907"/>
            <a:ext cx="112471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TASK GRAPH</a:t>
            </a:r>
          </a:p>
        </p:txBody>
      </p:sp>
      <p:sp>
        <p:nvSpPr>
          <p:cNvPr id="132" name="Text 19"/>
          <p:cNvSpPr txBox="1"/>
          <p:nvPr/>
        </p:nvSpPr>
        <p:spPr>
          <a:xfrm>
            <a:off x="3200400" y="2394238"/>
            <a:ext cx="1124712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8AA"/>
                </a:solidFill>
              </a:defRPr>
            </a:lvl1pPr>
          </a:lstStyle>
          <a:p>
            <a:pPr/>
            <a:r>
              <a:t>Dependency-aware execution graph</a:t>
            </a:r>
          </a:p>
        </p:txBody>
      </p:sp>
      <p:sp>
        <p:nvSpPr>
          <p:cNvPr id="133" name="Shape 20"/>
          <p:cNvSpPr/>
          <p:nvPr/>
        </p:nvSpPr>
        <p:spPr>
          <a:xfrm>
            <a:off x="4416552" y="2286000"/>
            <a:ext cx="128018" cy="0"/>
          </a:xfrm>
          <a:prstGeom prst="line">
            <a:avLst/>
          </a:prstGeom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Shape 21"/>
          <p:cNvSpPr/>
          <p:nvPr/>
        </p:nvSpPr>
        <p:spPr>
          <a:xfrm>
            <a:off x="4471415" y="2231134"/>
            <a:ext cx="109730" cy="10973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Shape 22"/>
          <p:cNvSpPr/>
          <p:nvPr/>
        </p:nvSpPr>
        <p:spPr>
          <a:xfrm>
            <a:off x="4581142" y="1828800"/>
            <a:ext cx="1234443" cy="914400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Shape 23"/>
          <p:cNvSpPr/>
          <p:nvPr/>
        </p:nvSpPr>
        <p:spPr>
          <a:xfrm>
            <a:off x="4581142" y="1828799"/>
            <a:ext cx="1234443" cy="45723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 24"/>
          <p:cNvSpPr txBox="1"/>
          <p:nvPr/>
        </p:nvSpPr>
        <p:spPr>
          <a:xfrm>
            <a:off x="4636008" y="2057907"/>
            <a:ext cx="11247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MODEL ROUTING</a:t>
            </a:r>
          </a:p>
        </p:txBody>
      </p:sp>
      <p:sp>
        <p:nvSpPr>
          <p:cNvPr id="138" name="Text 25"/>
          <p:cNvSpPr txBox="1"/>
          <p:nvPr/>
        </p:nvSpPr>
        <p:spPr>
          <a:xfrm>
            <a:off x="4636008" y="2394238"/>
            <a:ext cx="1124714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8AA"/>
                </a:solidFill>
              </a:defRPr>
            </a:lvl1pPr>
          </a:lstStyle>
          <a:p>
            <a:pPr/>
            <a:r>
              <a:t>Select optimal AI model per sub-task</a:t>
            </a:r>
          </a:p>
        </p:txBody>
      </p:sp>
      <p:sp>
        <p:nvSpPr>
          <p:cNvPr id="139" name="Shape 26"/>
          <p:cNvSpPr/>
          <p:nvPr/>
        </p:nvSpPr>
        <p:spPr>
          <a:xfrm>
            <a:off x="5852159" y="2286000"/>
            <a:ext cx="128018" cy="0"/>
          </a:xfrm>
          <a:prstGeom prst="line">
            <a:avLst/>
          </a:prstGeom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" name="Shape 27"/>
          <p:cNvSpPr/>
          <p:nvPr/>
        </p:nvSpPr>
        <p:spPr>
          <a:xfrm>
            <a:off x="5907023" y="2231134"/>
            <a:ext cx="109730" cy="10973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" name="Shape 28"/>
          <p:cNvSpPr/>
          <p:nvPr/>
        </p:nvSpPr>
        <p:spPr>
          <a:xfrm>
            <a:off x="6016752" y="1828800"/>
            <a:ext cx="1234442" cy="914400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" name="Shape 29"/>
          <p:cNvSpPr/>
          <p:nvPr/>
        </p:nvSpPr>
        <p:spPr>
          <a:xfrm>
            <a:off x="6016752" y="1828799"/>
            <a:ext cx="1234442" cy="45723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" name="Text 30"/>
          <p:cNvSpPr txBox="1"/>
          <p:nvPr/>
        </p:nvSpPr>
        <p:spPr>
          <a:xfrm>
            <a:off x="6071615" y="2057907"/>
            <a:ext cx="11247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EXECUTION</a:t>
            </a:r>
          </a:p>
        </p:txBody>
      </p:sp>
      <p:sp>
        <p:nvSpPr>
          <p:cNvPr id="144" name="Text 31"/>
          <p:cNvSpPr txBox="1"/>
          <p:nvPr/>
        </p:nvSpPr>
        <p:spPr>
          <a:xfrm>
            <a:off x="6071615" y="2394238"/>
            <a:ext cx="1124714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8AA"/>
                </a:solidFill>
              </a:defRPr>
            </a:lvl1pPr>
          </a:lstStyle>
          <a:p>
            <a:pPr/>
            <a:r>
              <a:t>Parallel/sequential action dispatch</a:t>
            </a:r>
          </a:p>
        </p:txBody>
      </p:sp>
      <p:sp>
        <p:nvSpPr>
          <p:cNvPr id="145" name="Shape 32"/>
          <p:cNvSpPr/>
          <p:nvPr/>
        </p:nvSpPr>
        <p:spPr>
          <a:xfrm>
            <a:off x="7287768" y="2286000"/>
            <a:ext cx="128018" cy="0"/>
          </a:xfrm>
          <a:prstGeom prst="line">
            <a:avLst/>
          </a:prstGeom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Shape 33"/>
          <p:cNvSpPr/>
          <p:nvPr/>
        </p:nvSpPr>
        <p:spPr>
          <a:xfrm>
            <a:off x="7342630" y="2231134"/>
            <a:ext cx="109730" cy="10973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Shape 34"/>
          <p:cNvSpPr/>
          <p:nvPr/>
        </p:nvSpPr>
        <p:spPr>
          <a:xfrm>
            <a:off x="7452359" y="1828800"/>
            <a:ext cx="1234442" cy="914400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" name="Shape 35"/>
          <p:cNvSpPr/>
          <p:nvPr/>
        </p:nvSpPr>
        <p:spPr>
          <a:xfrm>
            <a:off x="7452359" y="1828799"/>
            <a:ext cx="1234442" cy="45723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" name="Text 36"/>
          <p:cNvSpPr txBox="1"/>
          <p:nvPr/>
        </p:nvSpPr>
        <p:spPr>
          <a:xfrm>
            <a:off x="7507223" y="2057907"/>
            <a:ext cx="11247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HARDWARE</a:t>
            </a:r>
          </a:p>
        </p:txBody>
      </p:sp>
      <p:sp>
        <p:nvSpPr>
          <p:cNvPr id="150" name="Text 37"/>
          <p:cNvSpPr txBox="1"/>
          <p:nvPr/>
        </p:nvSpPr>
        <p:spPr>
          <a:xfrm>
            <a:off x="7507223" y="2394238"/>
            <a:ext cx="1124714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98AA"/>
                </a:solidFill>
              </a:defRPr>
            </a:lvl1pPr>
          </a:lstStyle>
          <a:p>
            <a:pPr/>
            <a:r>
              <a:t>Real-world actuation &amp; sensor feedback</a:t>
            </a:r>
          </a:p>
        </p:txBody>
      </p:sp>
      <p:sp>
        <p:nvSpPr>
          <p:cNvPr id="151" name="Shape 38"/>
          <p:cNvSpPr/>
          <p:nvPr/>
        </p:nvSpPr>
        <p:spPr>
          <a:xfrm>
            <a:off x="274320" y="3108959"/>
            <a:ext cx="8595360" cy="1645923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" name="Text 39"/>
          <p:cNvSpPr txBox="1"/>
          <p:nvPr/>
        </p:nvSpPr>
        <p:spPr>
          <a:xfrm>
            <a:off x="457200" y="3274058"/>
            <a:ext cx="8229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800">
                <a:solidFill>
                  <a:srgbClr val="00C2FF"/>
                </a:solidFill>
              </a:defRPr>
            </a:lvl1pPr>
          </a:lstStyle>
          <a:p>
            <a:pPr/>
            <a:r>
              <a:t>KEY BENEFITS</a:t>
            </a:r>
          </a:p>
        </p:txBody>
      </p:sp>
      <p:pic>
        <p:nvPicPr>
          <p:cNvPr id="15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" y="3566159"/>
            <a:ext cx="411481" cy="411482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Text 40"/>
          <p:cNvSpPr txBox="1"/>
          <p:nvPr/>
        </p:nvSpPr>
        <p:spPr>
          <a:xfrm>
            <a:off x="1051560" y="3739186"/>
            <a:ext cx="219456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Eliminates glue code</a:t>
            </a:r>
          </a:p>
        </p:txBody>
      </p:sp>
      <p:pic>
        <p:nvPicPr>
          <p:cNvPr id="15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83279" y="3566159"/>
            <a:ext cx="411482" cy="411482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Text 41"/>
          <p:cNvSpPr txBox="1"/>
          <p:nvPr/>
        </p:nvSpPr>
        <p:spPr>
          <a:xfrm>
            <a:off x="3886198" y="3739186"/>
            <a:ext cx="219456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Reduces latency</a:t>
            </a:r>
          </a:p>
        </p:txBody>
      </p:sp>
      <p:pic>
        <p:nvPicPr>
          <p:cNvPr id="157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17920" y="3566159"/>
            <a:ext cx="411482" cy="411482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Text 42"/>
          <p:cNvSpPr txBox="1"/>
          <p:nvPr/>
        </p:nvSpPr>
        <p:spPr>
          <a:xfrm>
            <a:off x="6720840" y="3739186"/>
            <a:ext cx="219456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Automates decision pipelines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" name="Text 1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00C2FF"/>
                </a:solidFill>
              </a:defRPr>
            </a:lvl1pPr>
          </a:lstStyle>
          <a:p>
            <a:pPr/>
            <a:r>
              <a:t>CORE FEATURES</a:t>
            </a:r>
          </a:p>
        </p:txBody>
      </p:sp>
      <p:sp>
        <p:nvSpPr>
          <p:cNvPr id="162" name="Shape 2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" name="Text 3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Built for Intelligence-First Execution</a:t>
            </a:r>
          </a:p>
        </p:txBody>
      </p:sp>
      <p:sp>
        <p:nvSpPr>
          <p:cNvPr id="164" name="Shape 4"/>
          <p:cNvSpPr/>
          <p:nvPr/>
        </p:nvSpPr>
        <p:spPr>
          <a:xfrm>
            <a:off x="228600" y="1234438"/>
            <a:ext cx="2834640" cy="1600203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" name="Shape 5"/>
          <p:cNvSpPr/>
          <p:nvPr/>
        </p:nvSpPr>
        <p:spPr>
          <a:xfrm>
            <a:off x="228600" y="1234438"/>
            <a:ext cx="54864" cy="1600203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6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1480" y="1371600"/>
            <a:ext cx="457202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ext 6"/>
          <p:cNvSpPr txBox="1"/>
          <p:nvPr/>
        </p:nvSpPr>
        <p:spPr>
          <a:xfrm>
            <a:off x="1005838" y="1498906"/>
            <a:ext cx="19202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Multi-Model Routing</a:t>
            </a:r>
          </a:p>
        </p:txBody>
      </p:sp>
      <p:sp>
        <p:nvSpPr>
          <p:cNvPr id="168" name="Text 7"/>
          <p:cNvSpPr txBox="1"/>
          <p:nvPr/>
        </p:nvSpPr>
        <p:spPr>
          <a:xfrm>
            <a:off x="411480" y="2157773"/>
            <a:ext cx="25146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98AA"/>
                </a:solidFill>
              </a:defRPr>
            </a:lvl1pPr>
          </a:lstStyle>
          <a:p>
            <a:pPr/>
            <a:r>
              <a:t>Vision, reasoning, and control models dispatched to the right task in real time.</a:t>
            </a:r>
          </a:p>
        </p:txBody>
      </p:sp>
      <p:sp>
        <p:nvSpPr>
          <p:cNvPr id="169" name="Shape 8"/>
          <p:cNvSpPr/>
          <p:nvPr/>
        </p:nvSpPr>
        <p:spPr>
          <a:xfrm>
            <a:off x="3200400" y="1234438"/>
            <a:ext cx="2834640" cy="1600203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Shape 9"/>
          <p:cNvSpPr/>
          <p:nvPr/>
        </p:nvSpPr>
        <p:spPr>
          <a:xfrm>
            <a:off x="3200400" y="1234438"/>
            <a:ext cx="54864" cy="1600203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71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83279" y="1371600"/>
            <a:ext cx="457202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Text 10"/>
          <p:cNvSpPr txBox="1"/>
          <p:nvPr/>
        </p:nvSpPr>
        <p:spPr>
          <a:xfrm>
            <a:off x="3977640" y="1498906"/>
            <a:ext cx="19202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Execution Engine</a:t>
            </a:r>
          </a:p>
        </p:txBody>
      </p:sp>
      <p:sp>
        <p:nvSpPr>
          <p:cNvPr id="173" name="Text 11"/>
          <p:cNvSpPr txBox="1"/>
          <p:nvPr/>
        </p:nvSpPr>
        <p:spPr>
          <a:xfrm>
            <a:off x="3383279" y="2157773"/>
            <a:ext cx="251460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98AA"/>
                </a:solidFill>
              </a:defRPr>
            </a:lvl1pPr>
          </a:lstStyle>
          <a:p>
            <a:pPr/>
            <a:r>
              <a:t>Translates AI decisions into real-world hardware commands with fault tolerance.</a:t>
            </a:r>
          </a:p>
        </p:txBody>
      </p:sp>
      <p:sp>
        <p:nvSpPr>
          <p:cNvPr id="174" name="Shape 12"/>
          <p:cNvSpPr/>
          <p:nvPr/>
        </p:nvSpPr>
        <p:spPr>
          <a:xfrm>
            <a:off x="6172200" y="1234438"/>
            <a:ext cx="2834640" cy="1600203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" name="Shape 13"/>
          <p:cNvSpPr/>
          <p:nvPr/>
        </p:nvSpPr>
        <p:spPr>
          <a:xfrm>
            <a:off x="6172200" y="1234438"/>
            <a:ext cx="54864" cy="1600203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76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55079" y="1371600"/>
            <a:ext cx="457202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Text 14"/>
          <p:cNvSpPr txBox="1"/>
          <p:nvPr/>
        </p:nvSpPr>
        <p:spPr>
          <a:xfrm>
            <a:off x="6949440" y="1498906"/>
            <a:ext cx="19202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World State Memory</a:t>
            </a:r>
          </a:p>
        </p:txBody>
      </p:sp>
      <p:sp>
        <p:nvSpPr>
          <p:cNvPr id="178" name="Text 15"/>
          <p:cNvSpPr txBox="1"/>
          <p:nvPr/>
        </p:nvSpPr>
        <p:spPr>
          <a:xfrm>
            <a:off x="6355079" y="2157773"/>
            <a:ext cx="251460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98AA"/>
                </a:solidFill>
              </a:defRPr>
            </a:lvl1pPr>
          </a:lstStyle>
          <a:p>
            <a:pPr/>
            <a:r>
              <a:t>Persistent sensor and environment data feeds into every decision cycle.</a:t>
            </a:r>
          </a:p>
        </p:txBody>
      </p:sp>
      <p:sp>
        <p:nvSpPr>
          <p:cNvPr id="179" name="Shape 16"/>
          <p:cNvSpPr/>
          <p:nvPr/>
        </p:nvSpPr>
        <p:spPr>
          <a:xfrm>
            <a:off x="1600200" y="3017520"/>
            <a:ext cx="2834640" cy="1600202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0" name="Shape 17"/>
          <p:cNvSpPr/>
          <p:nvPr/>
        </p:nvSpPr>
        <p:spPr>
          <a:xfrm>
            <a:off x="1600200" y="3017520"/>
            <a:ext cx="54864" cy="160020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81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783078" y="3154678"/>
            <a:ext cx="457202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Text 18"/>
          <p:cNvSpPr txBox="1"/>
          <p:nvPr/>
        </p:nvSpPr>
        <p:spPr>
          <a:xfrm>
            <a:off x="2377438" y="3281986"/>
            <a:ext cx="19202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Native ROS2 / PX4</a:t>
            </a:r>
          </a:p>
        </p:txBody>
      </p:sp>
      <p:sp>
        <p:nvSpPr>
          <p:cNvPr id="183" name="Text 19"/>
          <p:cNvSpPr txBox="1"/>
          <p:nvPr/>
        </p:nvSpPr>
        <p:spPr>
          <a:xfrm>
            <a:off x="1783078" y="3940854"/>
            <a:ext cx="2514602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98AA"/>
                </a:solidFill>
              </a:defRPr>
            </a:lvl1pPr>
          </a:lstStyle>
          <a:p>
            <a:pPr/>
            <a:r>
              <a:t>First-class integration with industry-standard robotics middleware and flight stacks.</a:t>
            </a:r>
          </a:p>
        </p:txBody>
      </p:sp>
      <p:sp>
        <p:nvSpPr>
          <p:cNvPr id="184" name="Shape 20"/>
          <p:cNvSpPr/>
          <p:nvPr/>
        </p:nvSpPr>
        <p:spPr>
          <a:xfrm>
            <a:off x="4572000" y="3017520"/>
            <a:ext cx="2834640" cy="1600202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5" name="Shape 21"/>
          <p:cNvSpPr/>
          <p:nvPr/>
        </p:nvSpPr>
        <p:spPr>
          <a:xfrm>
            <a:off x="4572000" y="3017520"/>
            <a:ext cx="54864" cy="160020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86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754879" y="3154678"/>
            <a:ext cx="457202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Text 22"/>
          <p:cNvSpPr txBox="1"/>
          <p:nvPr/>
        </p:nvSpPr>
        <p:spPr>
          <a:xfrm>
            <a:off x="5349240" y="3281986"/>
            <a:ext cx="19202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Edge + Cloud Hybrid</a:t>
            </a:r>
          </a:p>
        </p:txBody>
      </p:sp>
      <p:sp>
        <p:nvSpPr>
          <p:cNvPr id="188" name="Text 23"/>
          <p:cNvSpPr txBox="1"/>
          <p:nvPr/>
        </p:nvSpPr>
        <p:spPr>
          <a:xfrm>
            <a:off x="4754879" y="3940854"/>
            <a:ext cx="2514602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98AA"/>
                </a:solidFill>
              </a:defRPr>
            </a:lvl1pPr>
          </a:lstStyle>
          <a:p>
            <a:pPr/>
            <a:r>
              <a:t>Intelligent workload split — latency-critical tasks stay on-device, heavy compute offloads.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" name="Text 1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00C2FF"/>
                </a:solidFill>
              </a:defRPr>
            </a:lvl1pPr>
          </a:lstStyle>
          <a:p>
            <a:pPr/>
            <a:r>
              <a:t>PROOF OF WORK</a:t>
            </a:r>
          </a:p>
        </p:txBody>
      </p:sp>
      <p:sp>
        <p:nvSpPr>
          <p:cNvPr id="192" name="Shape 2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Text 3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MVP — What We've Built</a:t>
            </a:r>
          </a:p>
        </p:txBody>
      </p:sp>
      <p:sp>
        <p:nvSpPr>
          <p:cNvPr id="194" name="Shape 4"/>
          <p:cNvSpPr/>
          <p:nvPr/>
        </p:nvSpPr>
        <p:spPr>
          <a:xfrm>
            <a:off x="320040" y="1234438"/>
            <a:ext cx="4754880" cy="2743202"/>
          </a:xfrm>
          <a:prstGeom prst="rect">
            <a:avLst/>
          </a:prstGeom>
          <a:solidFill>
            <a:srgbClr val="050A0F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" name="Shape 5"/>
          <p:cNvSpPr/>
          <p:nvPr/>
        </p:nvSpPr>
        <p:spPr>
          <a:xfrm>
            <a:off x="320040" y="1234438"/>
            <a:ext cx="4754880" cy="347474"/>
          </a:xfrm>
          <a:prstGeom prst="rect">
            <a:avLst/>
          </a:prstGeom>
          <a:solidFill>
            <a:srgbClr val="1A1A2E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" name="Shape 6"/>
          <p:cNvSpPr/>
          <p:nvPr/>
        </p:nvSpPr>
        <p:spPr>
          <a:xfrm>
            <a:off x="502919" y="1298447"/>
            <a:ext cx="164595" cy="164595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" name="Shape 7"/>
          <p:cNvSpPr/>
          <p:nvPr/>
        </p:nvSpPr>
        <p:spPr>
          <a:xfrm>
            <a:off x="758951" y="1298447"/>
            <a:ext cx="164595" cy="164595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8" name="Shape 8"/>
          <p:cNvSpPr/>
          <p:nvPr/>
        </p:nvSpPr>
        <p:spPr>
          <a:xfrm>
            <a:off x="1014983" y="1298447"/>
            <a:ext cx="164595" cy="164595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9" name="Text 9"/>
          <p:cNvSpPr txBox="1"/>
          <p:nvPr/>
        </p:nvSpPr>
        <p:spPr>
          <a:xfrm>
            <a:off x="1188719" y="1335530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8898AA"/>
                </a:solidFill>
              </a:defRPr>
            </a:lvl1pPr>
          </a:lstStyle>
          <a:p>
            <a:pPr/>
            <a:r>
              <a:t>air-os — terminal</a:t>
            </a:r>
          </a:p>
        </p:txBody>
      </p:sp>
      <p:sp>
        <p:nvSpPr>
          <p:cNvPr id="200" name="Text 10"/>
          <p:cNvSpPr txBox="1"/>
          <p:nvPr/>
        </p:nvSpPr>
        <p:spPr>
          <a:xfrm>
            <a:off x="457200" y="1756155"/>
            <a:ext cx="4480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00C2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$ air ask "track object and avoid obstacle"</a:t>
            </a:r>
          </a:p>
        </p:txBody>
      </p:sp>
      <p:sp>
        <p:nvSpPr>
          <p:cNvPr id="201" name="Text 11"/>
          <p:cNvSpPr txBox="1"/>
          <p:nvPr/>
        </p:nvSpPr>
        <p:spPr>
          <a:xfrm>
            <a:off x="457200" y="2003043"/>
            <a:ext cx="4480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8A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&gt; Parsing intent...</a:t>
            </a:r>
          </a:p>
        </p:txBody>
      </p:sp>
      <p:sp>
        <p:nvSpPr>
          <p:cNvPr id="202" name="Text 12"/>
          <p:cNvSpPr txBox="1"/>
          <p:nvPr/>
        </p:nvSpPr>
        <p:spPr>
          <a:xfrm>
            <a:off x="457200" y="2249932"/>
            <a:ext cx="4480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8A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&gt; Loading: vision_model=YOLOv8, planner=RL_Agent</a:t>
            </a:r>
          </a:p>
        </p:txBody>
      </p:sp>
      <p:sp>
        <p:nvSpPr>
          <p:cNvPr id="203" name="Text 13"/>
          <p:cNvSpPr txBox="1"/>
          <p:nvPr/>
        </p:nvSpPr>
        <p:spPr>
          <a:xfrm>
            <a:off x="457200" y="2496820"/>
            <a:ext cx="4480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AAA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&gt; Task graph: [detect] → [plan] → [control]</a:t>
            </a:r>
          </a:p>
        </p:txBody>
      </p:sp>
      <p:sp>
        <p:nvSpPr>
          <p:cNvPr id="204" name="Text 14"/>
          <p:cNvSpPr txBox="1"/>
          <p:nvPr/>
        </p:nvSpPr>
        <p:spPr>
          <a:xfrm>
            <a:off x="457200" y="2743707"/>
            <a:ext cx="4480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8A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&gt; Routing to GPU pipeline...</a:t>
            </a:r>
          </a:p>
        </p:txBody>
      </p:sp>
      <p:sp>
        <p:nvSpPr>
          <p:cNvPr id="205" name="Text 15"/>
          <p:cNvSpPr txBox="1"/>
          <p:nvPr/>
        </p:nvSpPr>
        <p:spPr>
          <a:xfrm>
            <a:off x="457200" y="2986912"/>
            <a:ext cx="4480560" cy="134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00E5A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&gt; ✓ Object detected at [x:142 y:89]</a:t>
            </a:r>
          </a:p>
        </p:txBody>
      </p:sp>
      <p:sp>
        <p:nvSpPr>
          <p:cNvPr id="206" name="Text 16"/>
          <p:cNvSpPr txBox="1"/>
          <p:nvPr/>
        </p:nvSpPr>
        <p:spPr>
          <a:xfrm>
            <a:off x="457200" y="3233800"/>
            <a:ext cx="4480560" cy="134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00E5A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&gt; ✓ Path planned (12 waypoints)</a:t>
            </a:r>
          </a:p>
        </p:txBody>
      </p:sp>
      <p:sp>
        <p:nvSpPr>
          <p:cNvPr id="207" name="Text 17"/>
          <p:cNvSpPr txBox="1"/>
          <p:nvPr/>
        </p:nvSpPr>
        <p:spPr>
          <a:xfrm>
            <a:off x="457200" y="3480687"/>
            <a:ext cx="4480560" cy="134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00E5A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&gt; ✓ Control signals dispatched</a:t>
            </a:r>
          </a:p>
        </p:txBody>
      </p:sp>
      <p:sp>
        <p:nvSpPr>
          <p:cNvPr id="208" name="Text 18"/>
          <p:cNvSpPr txBox="1"/>
          <p:nvPr/>
        </p:nvSpPr>
        <p:spPr>
          <a:xfrm>
            <a:off x="457200" y="3731259"/>
            <a:ext cx="4480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B83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[SUCCESS] Pipeline complete in 48ms</a:t>
            </a:r>
          </a:p>
        </p:txBody>
      </p:sp>
      <p:sp>
        <p:nvSpPr>
          <p:cNvPr id="209" name="Text 19"/>
          <p:cNvSpPr txBox="1"/>
          <p:nvPr/>
        </p:nvSpPr>
        <p:spPr>
          <a:xfrm>
            <a:off x="5349240" y="1330958"/>
            <a:ext cx="3474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00C2FF"/>
                </a:solidFill>
              </a:defRPr>
            </a:lvl1pPr>
          </a:lstStyle>
          <a:p>
            <a:pPr/>
            <a:r>
              <a:t>INITIAL CAPABILITIES</a:t>
            </a:r>
          </a:p>
        </p:txBody>
      </p:sp>
      <p:sp>
        <p:nvSpPr>
          <p:cNvPr id="210" name="Shape 20"/>
          <p:cNvSpPr/>
          <p:nvPr/>
        </p:nvSpPr>
        <p:spPr>
          <a:xfrm>
            <a:off x="5349240" y="1645920"/>
            <a:ext cx="3474721" cy="548642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1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0" y="1755648"/>
            <a:ext cx="320042" cy="320042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Text 21"/>
          <p:cNvSpPr txBox="1"/>
          <p:nvPr/>
        </p:nvSpPr>
        <p:spPr>
          <a:xfrm>
            <a:off x="5897879" y="1834818"/>
            <a:ext cx="2743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Task routing functional</a:t>
            </a:r>
          </a:p>
        </p:txBody>
      </p:sp>
      <p:sp>
        <p:nvSpPr>
          <p:cNvPr id="213" name="Shape 22"/>
          <p:cNvSpPr/>
          <p:nvPr/>
        </p:nvSpPr>
        <p:spPr>
          <a:xfrm>
            <a:off x="5349240" y="2331720"/>
            <a:ext cx="3474721" cy="548642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14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0" y="2441448"/>
            <a:ext cx="320042" cy="320042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Text 23"/>
          <p:cNvSpPr txBox="1"/>
          <p:nvPr/>
        </p:nvSpPr>
        <p:spPr>
          <a:xfrm>
            <a:off x="5897879" y="2520618"/>
            <a:ext cx="2743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Multi-model execution pipeline</a:t>
            </a:r>
          </a:p>
        </p:txBody>
      </p:sp>
      <p:sp>
        <p:nvSpPr>
          <p:cNvPr id="216" name="Shape 24"/>
          <p:cNvSpPr/>
          <p:nvPr/>
        </p:nvSpPr>
        <p:spPr>
          <a:xfrm>
            <a:off x="5349240" y="3017520"/>
            <a:ext cx="3474721" cy="548642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17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0" y="3127248"/>
            <a:ext cx="320042" cy="320042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Text 25"/>
          <p:cNvSpPr txBox="1"/>
          <p:nvPr/>
        </p:nvSpPr>
        <p:spPr>
          <a:xfrm>
            <a:off x="5897879" y="3206418"/>
            <a:ext cx="2743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Vision → Planning → Control</a:t>
            </a:r>
          </a:p>
        </p:txBody>
      </p:sp>
      <p:sp>
        <p:nvSpPr>
          <p:cNvPr id="219" name="Shape 26"/>
          <p:cNvSpPr/>
          <p:nvPr/>
        </p:nvSpPr>
        <p:spPr>
          <a:xfrm>
            <a:off x="5349240" y="3703320"/>
            <a:ext cx="3474721" cy="548642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20" name="Image 3" descr="Imag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0" y="3813047"/>
            <a:ext cx="320042" cy="320042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Text 27"/>
          <p:cNvSpPr txBox="1"/>
          <p:nvPr/>
        </p:nvSpPr>
        <p:spPr>
          <a:xfrm>
            <a:off x="5897879" y="3892217"/>
            <a:ext cx="274320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Runs on local GPU / edge device</a:t>
            </a:r>
          </a:p>
        </p:txBody>
      </p:sp>
      <p:sp>
        <p:nvSpPr>
          <p:cNvPr id="222" name="Shape 28"/>
          <p:cNvSpPr/>
          <p:nvPr/>
        </p:nvSpPr>
        <p:spPr>
          <a:xfrm>
            <a:off x="5349240" y="4389120"/>
            <a:ext cx="3474721" cy="548642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23" name="Image 4" descr="Imag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0" y="4498847"/>
            <a:ext cx="320042" cy="320042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Text 29"/>
          <p:cNvSpPr txBox="1"/>
          <p:nvPr/>
        </p:nvSpPr>
        <p:spPr>
          <a:xfrm>
            <a:off x="5897879" y="4578017"/>
            <a:ext cx="274320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CLI prototype operational</a:t>
            </a:r>
          </a:p>
        </p:txBody>
      </p:sp>
      <p:sp>
        <p:nvSpPr>
          <p:cNvPr id="225" name="Shape 30"/>
          <p:cNvSpPr/>
          <p:nvPr/>
        </p:nvSpPr>
        <p:spPr>
          <a:xfrm>
            <a:off x="320040" y="4114798"/>
            <a:ext cx="4754880" cy="548643"/>
          </a:xfrm>
          <a:prstGeom prst="rect">
            <a:avLst/>
          </a:prstGeom>
          <a:solidFill>
            <a:srgbClr val="001A0D"/>
          </a:solidFill>
          <a:ln w="12700">
            <a:solidFill>
              <a:srgbClr val="00E5A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6" name="Text 31"/>
          <p:cNvSpPr txBox="1"/>
          <p:nvPr/>
        </p:nvSpPr>
        <p:spPr>
          <a:xfrm>
            <a:off x="457200" y="4285741"/>
            <a:ext cx="45720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0E5A0"/>
                </a:solidFill>
              </a:defRPr>
            </a:lvl1pPr>
          </a:lstStyle>
          <a:p>
            <a:pPr/>
            <a:r>
              <a:t>✅  ~50ms prototype latency on NVIDIA Jetson (early benchmark, pre-optimization)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" name="Text 1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00C2FF"/>
                </a:solidFill>
              </a:defRPr>
            </a:lvl1pPr>
          </a:lstStyle>
          <a:p>
            <a:pPr/>
            <a:r>
              <a:t>TARGET MARKET</a:t>
            </a:r>
          </a:p>
        </p:txBody>
      </p:sp>
      <p:sp>
        <p:nvSpPr>
          <p:cNvPr id="230" name="Shape 2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1" name="Text 3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Market : Autonomous Robotics</a:t>
            </a:r>
          </a:p>
        </p:txBody>
      </p:sp>
      <p:sp>
        <p:nvSpPr>
          <p:cNvPr id="232" name="Shape 4"/>
          <p:cNvSpPr/>
          <p:nvPr/>
        </p:nvSpPr>
        <p:spPr>
          <a:xfrm>
            <a:off x="320038" y="1234438"/>
            <a:ext cx="5120644" cy="3566161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" name="Shape 5"/>
          <p:cNvSpPr/>
          <p:nvPr/>
        </p:nvSpPr>
        <p:spPr>
          <a:xfrm>
            <a:off x="320040" y="1234438"/>
            <a:ext cx="73154" cy="3566161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4" name="Text 6"/>
          <p:cNvSpPr txBox="1"/>
          <p:nvPr/>
        </p:nvSpPr>
        <p:spPr>
          <a:xfrm>
            <a:off x="548639" y="1468119"/>
            <a:ext cx="45720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00C2FF"/>
                </a:solidFill>
              </a:defRPr>
            </a:lvl1pPr>
          </a:lstStyle>
          <a:p>
            <a:pPr/>
            <a:r>
              <a:t>INITIAL MARKET ANALYSIS </a:t>
            </a:r>
          </a:p>
        </p:txBody>
      </p:sp>
      <p:sp>
        <p:nvSpPr>
          <p:cNvPr id="235" name="Text 7"/>
          <p:cNvSpPr txBox="1"/>
          <p:nvPr/>
        </p:nvSpPr>
        <p:spPr>
          <a:xfrm>
            <a:off x="548639" y="1841851"/>
            <a:ext cx="4572003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Drones &amp; Edge AI Systems</a:t>
            </a:r>
          </a:p>
        </p:txBody>
      </p:sp>
      <p:sp>
        <p:nvSpPr>
          <p:cNvPr id="236" name="Text 8"/>
          <p:cNvSpPr txBox="1"/>
          <p:nvPr/>
        </p:nvSpPr>
        <p:spPr>
          <a:xfrm>
            <a:off x="548639" y="2364302"/>
            <a:ext cx="4572003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8898AA"/>
                </a:solidFill>
              </a:defRPr>
            </a:lvl1pPr>
          </a:lstStyle>
          <a:p>
            <a:pPr/>
            <a:r>
              <a:t>Autonomous Robotics</a:t>
            </a:r>
          </a:p>
        </p:txBody>
      </p:sp>
      <p:sp>
        <p:nvSpPr>
          <p:cNvPr id="237" name="Shape 9"/>
          <p:cNvSpPr/>
          <p:nvPr/>
        </p:nvSpPr>
        <p:spPr>
          <a:xfrm>
            <a:off x="548640" y="2834638"/>
            <a:ext cx="201171" cy="201171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Text 10"/>
          <p:cNvSpPr txBox="1"/>
          <p:nvPr/>
        </p:nvSpPr>
        <p:spPr>
          <a:xfrm>
            <a:off x="868678" y="2909238"/>
            <a:ext cx="438912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Requires real-time decisions at the edge</a:t>
            </a:r>
          </a:p>
        </p:txBody>
      </p:sp>
      <p:sp>
        <p:nvSpPr>
          <p:cNvPr id="239" name="Shape 11"/>
          <p:cNvSpPr/>
          <p:nvPr/>
        </p:nvSpPr>
        <p:spPr>
          <a:xfrm>
            <a:off x="548640" y="3337559"/>
            <a:ext cx="201171" cy="201171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" name="Text 12"/>
          <p:cNvSpPr txBox="1"/>
          <p:nvPr/>
        </p:nvSpPr>
        <p:spPr>
          <a:xfrm>
            <a:off x="868678" y="3412157"/>
            <a:ext cx="438912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Complex multi-model AI pipelines</a:t>
            </a:r>
          </a:p>
        </p:txBody>
      </p:sp>
      <p:sp>
        <p:nvSpPr>
          <p:cNvPr id="241" name="Shape 13"/>
          <p:cNvSpPr/>
          <p:nvPr/>
        </p:nvSpPr>
        <p:spPr>
          <a:xfrm>
            <a:off x="548640" y="3840479"/>
            <a:ext cx="201171" cy="201171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2" name="Text 14"/>
          <p:cNvSpPr txBox="1"/>
          <p:nvPr/>
        </p:nvSpPr>
        <p:spPr>
          <a:xfrm>
            <a:off x="868678" y="3915077"/>
            <a:ext cx="438912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High cost of failure reliability critical</a:t>
            </a:r>
          </a:p>
        </p:txBody>
      </p:sp>
      <p:sp>
        <p:nvSpPr>
          <p:cNvPr id="243" name="Shape 15"/>
          <p:cNvSpPr/>
          <p:nvPr/>
        </p:nvSpPr>
        <p:spPr>
          <a:xfrm>
            <a:off x="5669279" y="1234438"/>
            <a:ext cx="3154682" cy="1005840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" name="Shape 16"/>
          <p:cNvSpPr/>
          <p:nvPr/>
        </p:nvSpPr>
        <p:spPr>
          <a:xfrm>
            <a:off x="5669279" y="1234438"/>
            <a:ext cx="54866" cy="10058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" name="Text 17"/>
          <p:cNvSpPr txBox="1"/>
          <p:nvPr/>
        </p:nvSpPr>
        <p:spPr>
          <a:xfrm>
            <a:off x="5852159" y="1412791"/>
            <a:ext cx="6400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0C2FF"/>
                </a:solidFill>
              </a:defRPr>
            </a:lvl1pPr>
          </a:lstStyle>
          <a:p>
            <a:pPr/>
            <a:r>
              <a:t>TAM</a:t>
            </a:r>
          </a:p>
        </p:txBody>
      </p:sp>
      <p:sp>
        <p:nvSpPr>
          <p:cNvPr id="246" name="Text 18"/>
          <p:cNvSpPr txBox="1"/>
          <p:nvPr/>
        </p:nvSpPr>
        <p:spPr>
          <a:xfrm>
            <a:off x="6492240" y="1340218"/>
            <a:ext cx="210312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$218B</a:t>
            </a:r>
          </a:p>
        </p:txBody>
      </p:sp>
      <p:sp>
        <p:nvSpPr>
          <p:cNvPr id="247" name="Text 19"/>
          <p:cNvSpPr txBox="1"/>
          <p:nvPr/>
        </p:nvSpPr>
        <p:spPr>
          <a:xfrm>
            <a:off x="5852159" y="1747011"/>
            <a:ext cx="2743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8AA"/>
                </a:solidFill>
              </a:defRPr>
            </a:lvl1pPr>
          </a:lstStyle>
          <a:p>
            <a:pPr/>
            <a:r>
              <a:t>Global Robotics</a:t>
            </a:r>
          </a:p>
        </p:txBody>
      </p:sp>
      <p:sp>
        <p:nvSpPr>
          <p:cNvPr id="248" name="Shape 20"/>
          <p:cNvSpPr/>
          <p:nvPr/>
        </p:nvSpPr>
        <p:spPr>
          <a:xfrm>
            <a:off x="5669279" y="2423160"/>
            <a:ext cx="3154682" cy="1005840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" name="Shape 21"/>
          <p:cNvSpPr/>
          <p:nvPr/>
        </p:nvSpPr>
        <p:spPr>
          <a:xfrm>
            <a:off x="5669279" y="2423160"/>
            <a:ext cx="54866" cy="10058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" name="Text 22"/>
          <p:cNvSpPr txBox="1"/>
          <p:nvPr/>
        </p:nvSpPr>
        <p:spPr>
          <a:xfrm>
            <a:off x="5852159" y="2601511"/>
            <a:ext cx="6400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7B5EA7"/>
                </a:solidFill>
              </a:defRPr>
            </a:lvl1pPr>
          </a:lstStyle>
          <a:p>
            <a:pPr/>
            <a:r>
              <a:t>SAM</a:t>
            </a:r>
          </a:p>
        </p:txBody>
      </p:sp>
      <p:sp>
        <p:nvSpPr>
          <p:cNvPr id="251" name="Text 23"/>
          <p:cNvSpPr txBox="1"/>
          <p:nvPr/>
        </p:nvSpPr>
        <p:spPr>
          <a:xfrm>
            <a:off x="6492240" y="2528939"/>
            <a:ext cx="2103122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$42B</a:t>
            </a:r>
          </a:p>
        </p:txBody>
      </p:sp>
      <p:sp>
        <p:nvSpPr>
          <p:cNvPr id="252" name="Text 24"/>
          <p:cNvSpPr txBox="1"/>
          <p:nvPr/>
        </p:nvSpPr>
        <p:spPr>
          <a:xfrm>
            <a:off x="5852159" y="2935732"/>
            <a:ext cx="2743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8AA"/>
                </a:solidFill>
              </a:defRPr>
            </a:lvl1pPr>
          </a:lstStyle>
          <a:p>
            <a:pPr/>
            <a:r>
              <a:t>Edge AI Systems</a:t>
            </a:r>
          </a:p>
        </p:txBody>
      </p:sp>
      <p:sp>
        <p:nvSpPr>
          <p:cNvPr id="253" name="Shape 25"/>
          <p:cNvSpPr/>
          <p:nvPr/>
        </p:nvSpPr>
        <p:spPr>
          <a:xfrm>
            <a:off x="5669279" y="3611879"/>
            <a:ext cx="3154682" cy="1005840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4" name="Shape 26"/>
          <p:cNvSpPr/>
          <p:nvPr/>
        </p:nvSpPr>
        <p:spPr>
          <a:xfrm>
            <a:off x="5669279" y="3611879"/>
            <a:ext cx="54866" cy="10058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5" name="Text 27"/>
          <p:cNvSpPr txBox="1"/>
          <p:nvPr/>
        </p:nvSpPr>
        <p:spPr>
          <a:xfrm>
            <a:off x="5852159" y="3790231"/>
            <a:ext cx="6400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0E5A0"/>
                </a:solidFill>
              </a:defRPr>
            </a:lvl1pPr>
          </a:lstStyle>
          <a:p>
            <a:pPr/>
            <a:r>
              <a:t>SOM</a:t>
            </a:r>
          </a:p>
        </p:txBody>
      </p:sp>
      <p:sp>
        <p:nvSpPr>
          <p:cNvPr id="256" name="Text 28"/>
          <p:cNvSpPr txBox="1"/>
          <p:nvPr/>
        </p:nvSpPr>
        <p:spPr>
          <a:xfrm>
            <a:off x="6492240" y="3717659"/>
            <a:ext cx="210312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$1.2B</a:t>
            </a:r>
          </a:p>
        </p:txBody>
      </p:sp>
      <p:sp>
        <p:nvSpPr>
          <p:cNvPr id="257" name="Text 29"/>
          <p:cNvSpPr txBox="1"/>
          <p:nvPr/>
        </p:nvSpPr>
        <p:spPr>
          <a:xfrm>
            <a:off x="5852159" y="4124450"/>
            <a:ext cx="2743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8AA"/>
                </a:solidFill>
              </a:defRPr>
            </a:lvl1pPr>
          </a:lstStyle>
          <a:p>
            <a:pPr/>
            <a:r>
              <a:t>Dev Infra / SDK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0" name="Text 1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00C2FF"/>
                </a:solidFill>
              </a:defRPr>
            </a:lvl1pPr>
          </a:lstStyle>
          <a:p>
            <a:pPr/>
            <a:r>
              <a:t>USE CASE EXAMPLE</a:t>
            </a:r>
          </a:p>
        </p:txBody>
      </p:sp>
      <p:sp>
        <p:nvSpPr>
          <p:cNvPr id="261" name="Shape 2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2" name="Text 3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Autonomous Drone Navigation</a:t>
            </a:r>
          </a:p>
        </p:txBody>
      </p:sp>
      <p:sp>
        <p:nvSpPr>
          <p:cNvPr id="263" name="Shape 4"/>
          <p:cNvSpPr/>
          <p:nvPr/>
        </p:nvSpPr>
        <p:spPr>
          <a:xfrm>
            <a:off x="228598" y="1234438"/>
            <a:ext cx="1554484" cy="2560323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4" name="Shape 5"/>
          <p:cNvSpPr/>
          <p:nvPr/>
        </p:nvSpPr>
        <p:spPr>
          <a:xfrm>
            <a:off x="228598" y="1234438"/>
            <a:ext cx="1554484" cy="5486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6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7240" y="1417319"/>
            <a:ext cx="502920" cy="502922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Text 6"/>
          <p:cNvSpPr txBox="1"/>
          <p:nvPr/>
        </p:nvSpPr>
        <p:spPr>
          <a:xfrm>
            <a:off x="320039" y="2126023"/>
            <a:ext cx="137160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INPUT</a:t>
            </a:r>
          </a:p>
        </p:txBody>
      </p:sp>
      <p:sp>
        <p:nvSpPr>
          <p:cNvPr id="267" name="Text 7"/>
          <p:cNvSpPr txBox="1"/>
          <p:nvPr/>
        </p:nvSpPr>
        <p:spPr>
          <a:xfrm>
            <a:off x="320039" y="2634401"/>
            <a:ext cx="1371603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8898AA"/>
                </a:solidFill>
              </a:defRPr>
            </a:lvl1pPr>
          </a:lstStyle>
          <a:p>
            <a:pPr/>
            <a:r>
              <a:t>Live camera feed + GPS telemetry</a:t>
            </a:r>
          </a:p>
        </p:txBody>
      </p:sp>
      <p:sp>
        <p:nvSpPr>
          <p:cNvPr id="268" name="Shape 8"/>
          <p:cNvSpPr/>
          <p:nvPr/>
        </p:nvSpPr>
        <p:spPr>
          <a:xfrm>
            <a:off x="1783078" y="2514600"/>
            <a:ext cx="182882" cy="0"/>
          </a:xfrm>
          <a:prstGeom prst="line">
            <a:avLst/>
          </a:prstGeom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9" name="Shape 9"/>
          <p:cNvSpPr/>
          <p:nvPr/>
        </p:nvSpPr>
        <p:spPr>
          <a:xfrm>
            <a:off x="1965960" y="1234438"/>
            <a:ext cx="1554482" cy="2560323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0" name="Shape 10"/>
          <p:cNvSpPr/>
          <p:nvPr/>
        </p:nvSpPr>
        <p:spPr>
          <a:xfrm>
            <a:off x="1965960" y="1234438"/>
            <a:ext cx="1554482" cy="54866"/>
          </a:xfrm>
          <a:prstGeom prst="rect">
            <a:avLst/>
          </a:prstGeom>
          <a:solidFill>
            <a:srgbClr val="1E2D54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71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14600" y="1417319"/>
            <a:ext cx="502920" cy="502922"/>
          </a:xfrm>
          <a:prstGeom prst="rect">
            <a:avLst/>
          </a:prstGeom>
          <a:ln w="12700">
            <a:miter lim="400000"/>
          </a:ln>
        </p:spPr>
      </p:pic>
      <p:sp>
        <p:nvSpPr>
          <p:cNvPr id="272" name="Text 11"/>
          <p:cNvSpPr txBox="1"/>
          <p:nvPr/>
        </p:nvSpPr>
        <p:spPr>
          <a:xfrm>
            <a:off x="2057400" y="2126023"/>
            <a:ext cx="13716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VISION</a:t>
            </a:r>
          </a:p>
        </p:txBody>
      </p:sp>
      <p:sp>
        <p:nvSpPr>
          <p:cNvPr id="273" name="Text 12"/>
          <p:cNvSpPr txBox="1"/>
          <p:nvPr/>
        </p:nvSpPr>
        <p:spPr>
          <a:xfrm>
            <a:off x="2057400" y="2634401"/>
            <a:ext cx="1371600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8898AA"/>
                </a:solidFill>
              </a:defRPr>
            </a:lvl1pPr>
          </a:lstStyle>
          <a:p>
            <a:pPr/>
            <a:r>
              <a:t>YOLOv8 object detection &amp; depth</a:t>
            </a:r>
          </a:p>
        </p:txBody>
      </p:sp>
      <p:sp>
        <p:nvSpPr>
          <p:cNvPr id="274" name="Shape 13"/>
          <p:cNvSpPr/>
          <p:nvPr/>
        </p:nvSpPr>
        <p:spPr>
          <a:xfrm>
            <a:off x="3520440" y="2514600"/>
            <a:ext cx="182882" cy="0"/>
          </a:xfrm>
          <a:prstGeom prst="line">
            <a:avLst/>
          </a:prstGeom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5" name="Shape 14"/>
          <p:cNvSpPr/>
          <p:nvPr/>
        </p:nvSpPr>
        <p:spPr>
          <a:xfrm>
            <a:off x="3703320" y="1234438"/>
            <a:ext cx="1554482" cy="2560323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6" name="Shape 15"/>
          <p:cNvSpPr/>
          <p:nvPr/>
        </p:nvSpPr>
        <p:spPr>
          <a:xfrm>
            <a:off x="3703320" y="1234438"/>
            <a:ext cx="1554482" cy="54866"/>
          </a:xfrm>
          <a:prstGeom prst="rect">
            <a:avLst/>
          </a:prstGeom>
          <a:solidFill>
            <a:srgbClr val="1E2D54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77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51959" y="1417319"/>
            <a:ext cx="502922" cy="502922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Text 16"/>
          <p:cNvSpPr txBox="1"/>
          <p:nvPr/>
        </p:nvSpPr>
        <p:spPr>
          <a:xfrm>
            <a:off x="3794759" y="2126023"/>
            <a:ext cx="137160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PLANNING</a:t>
            </a:r>
          </a:p>
        </p:txBody>
      </p:sp>
      <p:sp>
        <p:nvSpPr>
          <p:cNvPr id="279" name="Text 17"/>
          <p:cNvSpPr txBox="1"/>
          <p:nvPr/>
        </p:nvSpPr>
        <p:spPr>
          <a:xfrm>
            <a:off x="3794759" y="2634401"/>
            <a:ext cx="1371602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8898AA"/>
                </a:solidFill>
              </a:defRPr>
            </a:lvl1pPr>
          </a:lstStyle>
          <a:p>
            <a:pPr/>
            <a:r>
              <a:t>RL-based path &amp; avoidance planner</a:t>
            </a:r>
          </a:p>
        </p:txBody>
      </p:sp>
      <p:sp>
        <p:nvSpPr>
          <p:cNvPr id="280" name="Shape 18"/>
          <p:cNvSpPr/>
          <p:nvPr/>
        </p:nvSpPr>
        <p:spPr>
          <a:xfrm>
            <a:off x="5257798" y="2514600"/>
            <a:ext cx="182882" cy="0"/>
          </a:xfrm>
          <a:prstGeom prst="line">
            <a:avLst/>
          </a:prstGeom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1" name="Shape 19"/>
          <p:cNvSpPr/>
          <p:nvPr/>
        </p:nvSpPr>
        <p:spPr>
          <a:xfrm>
            <a:off x="5440679" y="1234438"/>
            <a:ext cx="1554482" cy="2560323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2" name="Shape 20"/>
          <p:cNvSpPr/>
          <p:nvPr/>
        </p:nvSpPr>
        <p:spPr>
          <a:xfrm>
            <a:off x="5440679" y="1234438"/>
            <a:ext cx="1554482" cy="54866"/>
          </a:xfrm>
          <a:prstGeom prst="rect">
            <a:avLst/>
          </a:prstGeom>
          <a:solidFill>
            <a:srgbClr val="1E2D54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83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989320" y="1417319"/>
            <a:ext cx="502922" cy="502922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Text 21"/>
          <p:cNvSpPr txBox="1"/>
          <p:nvPr/>
        </p:nvSpPr>
        <p:spPr>
          <a:xfrm>
            <a:off x="5532120" y="2126023"/>
            <a:ext cx="137160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CONTROL</a:t>
            </a:r>
          </a:p>
        </p:txBody>
      </p:sp>
      <p:sp>
        <p:nvSpPr>
          <p:cNvPr id="285" name="Text 22"/>
          <p:cNvSpPr txBox="1"/>
          <p:nvPr/>
        </p:nvSpPr>
        <p:spPr>
          <a:xfrm>
            <a:off x="5532120" y="2634401"/>
            <a:ext cx="1371602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8898AA"/>
                </a:solidFill>
              </a:defRPr>
            </a:lvl1pPr>
          </a:lstStyle>
          <a:p>
            <a:pPr/>
            <a:r>
              <a:t>PX4 flight controller commands</a:t>
            </a:r>
          </a:p>
        </p:txBody>
      </p:sp>
      <p:sp>
        <p:nvSpPr>
          <p:cNvPr id="286" name="Shape 23"/>
          <p:cNvSpPr/>
          <p:nvPr/>
        </p:nvSpPr>
        <p:spPr>
          <a:xfrm>
            <a:off x="6995159" y="2514600"/>
            <a:ext cx="182882" cy="0"/>
          </a:xfrm>
          <a:prstGeom prst="line">
            <a:avLst/>
          </a:prstGeom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7" name="Shape 24"/>
          <p:cNvSpPr/>
          <p:nvPr/>
        </p:nvSpPr>
        <p:spPr>
          <a:xfrm>
            <a:off x="7178040" y="1234438"/>
            <a:ext cx="1554482" cy="2560323"/>
          </a:xfrm>
          <a:prstGeom prst="rect">
            <a:avLst/>
          </a:prstGeom>
          <a:solidFill>
            <a:srgbClr val="001A0D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8" name="Shape 25"/>
          <p:cNvSpPr/>
          <p:nvPr/>
        </p:nvSpPr>
        <p:spPr>
          <a:xfrm>
            <a:off x="7178040" y="1234438"/>
            <a:ext cx="1554482" cy="5486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89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726680" y="1417319"/>
            <a:ext cx="502922" cy="502922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Text 26"/>
          <p:cNvSpPr txBox="1"/>
          <p:nvPr/>
        </p:nvSpPr>
        <p:spPr>
          <a:xfrm>
            <a:off x="7269480" y="2126023"/>
            <a:ext cx="137160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0E5A0"/>
                </a:solidFill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291" name="Text 27"/>
          <p:cNvSpPr txBox="1"/>
          <p:nvPr/>
        </p:nvSpPr>
        <p:spPr>
          <a:xfrm>
            <a:off x="7269480" y="2634401"/>
            <a:ext cx="1371602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8898AA"/>
                </a:solidFill>
              </a:defRPr>
            </a:lvl1pPr>
          </a:lstStyle>
          <a:p>
            <a:pPr/>
            <a:r>
              <a:t>Real-time autonomous navigation</a:t>
            </a:r>
          </a:p>
        </p:txBody>
      </p:sp>
      <p:sp>
        <p:nvSpPr>
          <p:cNvPr id="292" name="Shape 28"/>
          <p:cNvSpPr/>
          <p:nvPr/>
        </p:nvSpPr>
        <p:spPr>
          <a:xfrm>
            <a:off x="228600" y="3977640"/>
            <a:ext cx="8686800" cy="731522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3" name="Shape 29"/>
          <p:cNvSpPr/>
          <p:nvPr/>
        </p:nvSpPr>
        <p:spPr>
          <a:xfrm>
            <a:off x="228599" y="3977640"/>
            <a:ext cx="1463043" cy="73152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4" name="Text 30"/>
          <p:cNvSpPr txBox="1"/>
          <p:nvPr/>
        </p:nvSpPr>
        <p:spPr>
          <a:xfrm>
            <a:off x="274318" y="4203000"/>
            <a:ext cx="1371604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040810"/>
                </a:solidFill>
              </a:defRPr>
            </a:lvl1pPr>
          </a:lstStyle>
          <a:p>
            <a:pPr/>
            <a:r>
              <a:t>AIR OS</a:t>
            </a:r>
          </a:p>
        </p:txBody>
      </p:sp>
      <p:sp>
        <p:nvSpPr>
          <p:cNvPr id="295" name="Text 31"/>
          <p:cNvSpPr txBox="1"/>
          <p:nvPr/>
        </p:nvSpPr>
        <p:spPr>
          <a:xfrm>
            <a:off x="1874520" y="4280837"/>
            <a:ext cx="685800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Orchestrates all layers seamlessly  from raw input to real-world action in under 50ms on edge hardware.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8" name="Text 1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00C2FF"/>
                </a:solidFill>
              </a:defRPr>
            </a:lvl1pPr>
          </a:lstStyle>
          <a:p>
            <a:pPr/>
            <a:r>
              <a:t>COMPETITIVE LANDSCAPE</a:t>
            </a:r>
          </a:p>
        </p:txBody>
      </p:sp>
      <p:sp>
        <p:nvSpPr>
          <p:cNvPr id="299" name="Shape 2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0" name="Text 3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The Gap We Fill</a:t>
            </a:r>
          </a:p>
        </p:txBody>
      </p:sp>
      <p:sp>
        <p:nvSpPr>
          <p:cNvPr id="301" name="Shape 4"/>
          <p:cNvSpPr/>
          <p:nvPr/>
        </p:nvSpPr>
        <p:spPr>
          <a:xfrm>
            <a:off x="320040" y="1280160"/>
            <a:ext cx="2011679" cy="411482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2" name="Text 5"/>
          <p:cNvSpPr txBox="1"/>
          <p:nvPr/>
        </p:nvSpPr>
        <p:spPr>
          <a:xfrm>
            <a:off x="393192" y="1431080"/>
            <a:ext cx="190195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8898AA"/>
                </a:solidFill>
              </a:defRPr>
            </a:lvl1pPr>
          </a:lstStyle>
          <a:p>
            <a:pPr/>
            <a:r>
              <a:t>Platform</a:t>
            </a:r>
          </a:p>
        </p:txBody>
      </p:sp>
      <p:sp>
        <p:nvSpPr>
          <p:cNvPr id="303" name="Shape 6"/>
          <p:cNvSpPr/>
          <p:nvPr/>
        </p:nvSpPr>
        <p:spPr>
          <a:xfrm>
            <a:off x="2331720" y="1280160"/>
            <a:ext cx="1463042" cy="411482"/>
          </a:xfrm>
          <a:prstGeom prst="rect">
            <a:avLst/>
          </a:prstGeom>
          <a:solidFill>
            <a:srgbClr val="00C2FF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4" name="Text 7"/>
          <p:cNvSpPr txBox="1"/>
          <p:nvPr/>
        </p:nvSpPr>
        <p:spPr>
          <a:xfrm>
            <a:off x="2404871" y="1431080"/>
            <a:ext cx="1353315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40810"/>
                </a:solidFill>
              </a:defRPr>
            </a:lvl1pPr>
          </a:lstStyle>
          <a:p>
            <a:pPr/>
            <a:r>
              <a:t>AI Orchestration</a:t>
            </a:r>
          </a:p>
        </p:txBody>
      </p:sp>
      <p:sp>
        <p:nvSpPr>
          <p:cNvPr id="305" name="Shape 8"/>
          <p:cNvSpPr/>
          <p:nvPr/>
        </p:nvSpPr>
        <p:spPr>
          <a:xfrm>
            <a:off x="3794759" y="1280160"/>
            <a:ext cx="1463042" cy="411482"/>
          </a:xfrm>
          <a:prstGeom prst="rect">
            <a:avLst/>
          </a:prstGeom>
          <a:solidFill>
            <a:srgbClr val="00C2FF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6" name="Text 9"/>
          <p:cNvSpPr txBox="1"/>
          <p:nvPr/>
        </p:nvSpPr>
        <p:spPr>
          <a:xfrm>
            <a:off x="3867910" y="1431080"/>
            <a:ext cx="1353315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40810"/>
                </a:solidFill>
              </a:defRPr>
            </a:lvl1pPr>
          </a:lstStyle>
          <a:p>
            <a:pPr/>
            <a:r>
              <a:t>Real-Time</a:t>
            </a:r>
          </a:p>
        </p:txBody>
      </p:sp>
      <p:sp>
        <p:nvSpPr>
          <p:cNvPr id="307" name="Shape 10"/>
          <p:cNvSpPr/>
          <p:nvPr/>
        </p:nvSpPr>
        <p:spPr>
          <a:xfrm>
            <a:off x="5257798" y="1280160"/>
            <a:ext cx="1463043" cy="411482"/>
          </a:xfrm>
          <a:prstGeom prst="rect">
            <a:avLst/>
          </a:prstGeom>
          <a:solidFill>
            <a:srgbClr val="00C2FF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8" name="Text 11"/>
          <p:cNvSpPr txBox="1"/>
          <p:nvPr/>
        </p:nvSpPr>
        <p:spPr>
          <a:xfrm>
            <a:off x="5330952" y="1431080"/>
            <a:ext cx="135331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40810"/>
                </a:solidFill>
              </a:defRPr>
            </a:lvl1pPr>
          </a:lstStyle>
          <a:p>
            <a:pPr/>
            <a:r>
              <a:t>Edge Native</a:t>
            </a:r>
          </a:p>
        </p:txBody>
      </p:sp>
      <p:sp>
        <p:nvSpPr>
          <p:cNvPr id="309" name="Shape 12"/>
          <p:cNvSpPr/>
          <p:nvPr/>
        </p:nvSpPr>
        <p:spPr>
          <a:xfrm>
            <a:off x="6720840" y="1280160"/>
            <a:ext cx="1463042" cy="411482"/>
          </a:xfrm>
          <a:prstGeom prst="rect">
            <a:avLst/>
          </a:prstGeom>
          <a:solidFill>
            <a:srgbClr val="00C2FF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0" name="Text 13"/>
          <p:cNvSpPr txBox="1"/>
          <p:nvPr/>
        </p:nvSpPr>
        <p:spPr>
          <a:xfrm>
            <a:off x="6793992" y="1431080"/>
            <a:ext cx="135331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40810"/>
                </a:solidFill>
              </a:defRPr>
            </a:lvl1pPr>
          </a:lstStyle>
          <a:p>
            <a:pPr/>
            <a:r>
              <a:t>Unified SDK</a:t>
            </a:r>
          </a:p>
        </p:txBody>
      </p:sp>
      <p:sp>
        <p:nvSpPr>
          <p:cNvPr id="311" name="Shape 14"/>
          <p:cNvSpPr/>
          <p:nvPr/>
        </p:nvSpPr>
        <p:spPr>
          <a:xfrm>
            <a:off x="320040" y="1691638"/>
            <a:ext cx="2011679" cy="438914"/>
          </a:xfrm>
          <a:prstGeom prst="rect">
            <a:avLst/>
          </a:prstGeom>
          <a:solidFill>
            <a:srgbClr val="06091A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" name="Text 15"/>
          <p:cNvSpPr txBox="1"/>
          <p:nvPr/>
        </p:nvSpPr>
        <p:spPr>
          <a:xfrm>
            <a:off x="393192" y="1853106"/>
            <a:ext cx="190195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B830"/>
                </a:solidFill>
              </a:defRPr>
            </a:lvl1pPr>
          </a:lstStyle>
          <a:p>
            <a:pPr/>
            <a:r>
              <a:t>ROS2</a:t>
            </a:r>
          </a:p>
        </p:txBody>
      </p:sp>
      <p:sp>
        <p:nvSpPr>
          <p:cNvPr id="313" name="Shape 16"/>
          <p:cNvSpPr/>
          <p:nvPr/>
        </p:nvSpPr>
        <p:spPr>
          <a:xfrm>
            <a:off x="2331720" y="1691638"/>
            <a:ext cx="1463042" cy="438914"/>
          </a:xfrm>
          <a:prstGeom prst="rect">
            <a:avLst/>
          </a:prstGeom>
          <a:solidFill>
            <a:srgbClr val="06091A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4" name="Text 17"/>
          <p:cNvSpPr txBox="1"/>
          <p:nvPr/>
        </p:nvSpPr>
        <p:spPr>
          <a:xfrm>
            <a:off x="2404871" y="1850390"/>
            <a:ext cx="135331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4466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315" name="Shape 18"/>
          <p:cNvSpPr/>
          <p:nvPr/>
        </p:nvSpPr>
        <p:spPr>
          <a:xfrm>
            <a:off x="3794759" y="1691638"/>
            <a:ext cx="1463042" cy="438914"/>
          </a:xfrm>
          <a:prstGeom prst="rect">
            <a:avLst/>
          </a:prstGeom>
          <a:solidFill>
            <a:srgbClr val="06091A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6" name="Text 19"/>
          <p:cNvSpPr txBox="1"/>
          <p:nvPr/>
        </p:nvSpPr>
        <p:spPr>
          <a:xfrm>
            <a:off x="3867910" y="1853106"/>
            <a:ext cx="135331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B830"/>
                </a:solidFill>
              </a:defRPr>
            </a:lvl1pPr>
          </a:lstStyle>
          <a:p>
            <a:pPr/>
            <a:r>
              <a:t>~</a:t>
            </a:r>
          </a:p>
        </p:txBody>
      </p:sp>
      <p:sp>
        <p:nvSpPr>
          <p:cNvPr id="317" name="Shape 20"/>
          <p:cNvSpPr/>
          <p:nvPr/>
        </p:nvSpPr>
        <p:spPr>
          <a:xfrm>
            <a:off x="5257798" y="1691638"/>
            <a:ext cx="1463043" cy="438914"/>
          </a:xfrm>
          <a:prstGeom prst="rect">
            <a:avLst/>
          </a:prstGeom>
          <a:solidFill>
            <a:srgbClr val="06091A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8" name="Text 21"/>
          <p:cNvSpPr txBox="1"/>
          <p:nvPr/>
        </p:nvSpPr>
        <p:spPr>
          <a:xfrm>
            <a:off x="5330952" y="1837690"/>
            <a:ext cx="135331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00E5A0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319" name="Shape 22"/>
          <p:cNvSpPr/>
          <p:nvPr/>
        </p:nvSpPr>
        <p:spPr>
          <a:xfrm>
            <a:off x="6720840" y="1691638"/>
            <a:ext cx="1463042" cy="438914"/>
          </a:xfrm>
          <a:prstGeom prst="rect">
            <a:avLst/>
          </a:prstGeom>
          <a:solidFill>
            <a:srgbClr val="06091A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0" name="Text 23"/>
          <p:cNvSpPr txBox="1"/>
          <p:nvPr/>
        </p:nvSpPr>
        <p:spPr>
          <a:xfrm>
            <a:off x="6793992" y="1850390"/>
            <a:ext cx="13533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4466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321" name="Shape 24"/>
          <p:cNvSpPr/>
          <p:nvPr/>
        </p:nvSpPr>
        <p:spPr>
          <a:xfrm>
            <a:off x="320040" y="2148838"/>
            <a:ext cx="2011679" cy="438914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2" name="Text 25"/>
          <p:cNvSpPr txBox="1"/>
          <p:nvPr/>
        </p:nvSpPr>
        <p:spPr>
          <a:xfrm>
            <a:off x="393192" y="2310306"/>
            <a:ext cx="190195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B830"/>
                </a:solidFill>
              </a:defRPr>
            </a:lvl1pPr>
          </a:lstStyle>
          <a:p>
            <a:pPr/>
            <a:r>
              <a:t>NVIDIA Isaac</a:t>
            </a:r>
          </a:p>
        </p:txBody>
      </p:sp>
      <p:sp>
        <p:nvSpPr>
          <p:cNvPr id="323" name="Shape 26"/>
          <p:cNvSpPr/>
          <p:nvPr/>
        </p:nvSpPr>
        <p:spPr>
          <a:xfrm>
            <a:off x="2331720" y="2148838"/>
            <a:ext cx="1463042" cy="438914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4" name="Text 27"/>
          <p:cNvSpPr txBox="1"/>
          <p:nvPr/>
        </p:nvSpPr>
        <p:spPr>
          <a:xfrm>
            <a:off x="2404871" y="2310306"/>
            <a:ext cx="135331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B830"/>
                </a:solidFill>
              </a:defRPr>
            </a:lvl1pPr>
          </a:lstStyle>
          <a:p>
            <a:pPr/>
            <a:r>
              <a:t>~</a:t>
            </a:r>
          </a:p>
        </p:txBody>
      </p:sp>
      <p:sp>
        <p:nvSpPr>
          <p:cNvPr id="325" name="Shape 28"/>
          <p:cNvSpPr/>
          <p:nvPr/>
        </p:nvSpPr>
        <p:spPr>
          <a:xfrm>
            <a:off x="3794759" y="2148838"/>
            <a:ext cx="1463042" cy="438914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6" name="Text 29"/>
          <p:cNvSpPr txBox="1"/>
          <p:nvPr/>
        </p:nvSpPr>
        <p:spPr>
          <a:xfrm>
            <a:off x="3867910" y="2294890"/>
            <a:ext cx="135331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00E5A0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327" name="Shape 30"/>
          <p:cNvSpPr/>
          <p:nvPr/>
        </p:nvSpPr>
        <p:spPr>
          <a:xfrm>
            <a:off x="5257798" y="2148838"/>
            <a:ext cx="1463043" cy="438914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8" name="Text 31"/>
          <p:cNvSpPr txBox="1"/>
          <p:nvPr/>
        </p:nvSpPr>
        <p:spPr>
          <a:xfrm>
            <a:off x="5330952" y="2307590"/>
            <a:ext cx="13533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4466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329" name="Shape 32"/>
          <p:cNvSpPr/>
          <p:nvPr/>
        </p:nvSpPr>
        <p:spPr>
          <a:xfrm>
            <a:off x="6720840" y="2148838"/>
            <a:ext cx="1463042" cy="438914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0" name="Text 33"/>
          <p:cNvSpPr txBox="1"/>
          <p:nvPr/>
        </p:nvSpPr>
        <p:spPr>
          <a:xfrm>
            <a:off x="6793992" y="2310306"/>
            <a:ext cx="135331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B830"/>
                </a:solidFill>
              </a:defRPr>
            </a:lvl1pPr>
          </a:lstStyle>
          <a:p>
            <a:pPr/>
            <a:r>
              <a:t>~</a:t>
            </a:r>
          </a:p>
        </p:txBody>
      </p:sp>
      <p:sp>
        <p:nvSpPr>
          <p:cNvPr id="331" name="Shape 34"/>
          <p:cNvSpPr/>
          <p:nvPr/>
        </p:nvSpPr>
        <p:spPr>
          <a:xfrm>
            <a:off x="320040" y="2606038"/>
            <a:ext cx="2011679" cy="438914"/>
          </a:xfrm>
          <a:prstGeom prst="rect">
            <a:avLst/>
          </a:prstGeom>
          <a:solidFill>
            <a:srgbClr val="06091A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2" name="Text 35"/>
          <p:cNvSpPr txBox="1"/>
          <p:nvPr/>
        </p:nvSpPr>
        <p:spPr>
          <a:xfrm>
            <a:off x="393192" y="2767506"/>
            <a:ext cx="190195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B830"/>
                </a:solidFill>
              </a:defRPr>
            </a:lvl1pPr>
          </a:lstStyle>
          <a:p>
            <a:pPr/>
            <a:r>
              <a:t>Cloud AI APIs</a:t>
            </a:r>
          </a:p>
        </p:txBody>
      </p:sp>
      <p:sp>
        <p:nvSpPr>
          <p:cNvPr id="333" name="Shape 36"/>
          <p:cNvSpPr/>
          <p:nvPr/>
        </p:nvSpPr>
        <p:spPr>
          <a:xfrm>
            <a:off x="2331720" y="2606038"/>
            <a:ext cx="1463042" cy="438914"/>
          </a:xfrm>
          <a:prstGeom prst="rect">
            <a:avLst/>
          </a:prstGeom>
          <a:solidFill>
            <a:srgbClr val="06091A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4" name="Text 37"/>
          <p:cNvSpPr txBox="1"/>
          <p:nvPr/>
        </p:nvSpPr>
        <p:spPr>
          <a:xfrm>
            <a:off x="2404871" y="2752090"/>
            <a:ext cx="135331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00E5A0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335" name="Shape 38"/>
          <p:cNvSpPr/>
          <p:nvPr/>
        </p:nvSpPr>
        <p:spPr>
          <a:xfrm>
            <a:off x="3794759" y="2606038"/>
            <a:ext cx="1463042" cy="438914"/>
          </a:xfrm>
          <a:prstGeom prst="rect">
            <a:avLst/>
          </a:prstGeom>
          <a:solidFill>
            <a:srgbClr val="06091A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6" name="Text 39"/>
          <p:cNvSpPr txBox="1"/>
          <p:nvPr/>
        </p:nvSpPr>
        <p:spPr>
          <a:xfrm>
            <a:off x="3867910" y="2764790"/>
            <a:ext cx="135331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4466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337" name="Shape 40"/>
          <p:cNvSpPr/>
          <p:nvPr/>
        </p:nvSpPr>
        <p:spPr>
          <a:xfrm>
            <a:off x="5257798" y="2606038"/>
            <a:ext cx="1463043" cy="438914"/>
          </a:xfrm>
          <a:prstGeom prst="rect">
            <a:avLst/>
          </a:prstGeom>
          <a:solidFill>
            <a:srgbClr val="06091A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8" name="Text 41"/>
          <p:cNvSpPr txBox="1"/>
          <p:nvPr/>
        </p:nvSpPr>
        <p:spPr>
          <a:xfrm>
            <a:off x="5330952" y="2764790"/>
            <a:ext cx="13533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4466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339" name="Shape 42"/>
          <p:cNvSpPr/>
          <p:nvPr/>
        </p:nvSpPr>
        <p:spPr>
          <a:xfrm>
            <a:off x="6720840" y="2606038"/>
            <a:ext cx="1463042" cy="438914"/>
          </a:xfrm>
          <a:prstGeom prst="rect">
            <a:avLst/>
          </a:prstGeom>
          <a:solidFill>
            <a:srgbClr val="06091A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0" name="Text 43"/>
          <p:cNvSpPr txBox="1"/>
          <p:nvPr/>
        </p:nvSpPr>
        <p:spPr>
          <a:xfrm>
            <a:off x="6793992" y="2767506"/>
            <a:ext cx="135331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B830"/>
                </a:solidFill>
              </a:defRPr>
            </a:lvl1pPr>
          </a:lstStyle>
          <a:p>
            <a:pPr/>
            <a:r>
              <a:t>~</a:t>
            </a:r>
          </a:p>
        </p:txBody>
      </p:sp>
      <p:sp>
        <p:nvSpPr>
          <p:cNvPr id="341" name="Shape 44"/>
          <p:cNvSpPr/>
          <p:nvPr/>
        </p:nvSpPr>
        <p:spPr>
          <a:xfrm>
            <a:off x="320040" y="3063238"/>
            <a:ext cx="2011679" cy="438914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2" name="Text 45"/>
          <p:cNvSpPr txBox="1"/>
          <p:nvPr/>
        </p:nvSpPr>
        <p:spPr>
          <a:xfrm>
            <a:off x="393192" y="3224706"/>
            <a:ext cx="190195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B830"/>
                </a:solidFill>
              </a:defRPr>
            </a:lvl1pPr>
          </a:lstStyle>
          <a:p>
            <a:pPr/>
            <a:r>
              <a:t>Linux / RTOS</a:t>
            </a:r>
          </a:p>
        </p:txBody>
      </p:sp>
      <p:sp>
        <p:nvSpPr>
          <p:cNvPr id="343" name="Shape 46"/>
          <p:cNvSpPr/>
          <p:nvPr/>
        </p:nvSpPr>
        <p:spPr>
          <a:xfrm>
            <a:off x="2331720" y="3063238"/>
            <a:ext cx="1463042" cy="438914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4" name="Text 47"/>
          <p:cNvSpPr txBox="1"/>
          <p:nvPr/>
        </p:nvSpPr>
        <p:spPr>
          <a:xfrm>
            <a:off x="2404871" y="3221990"/>
            <a:ext cx="135331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4466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345" name="Shape 48"/>
          <p:cNvSpPr/>
          <p:nvPr/>
        </p:nvSpPr>
        <p:spPr>
          <a:xfrm>
            <a:off x="3794759" y="3063238"/>
            <a:ext cx="1463042" cy="438914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6" name="Text 49"/>
          <p:cNvSpPr txBox="1"/>
          <p:nvPr/>
        </p:nvSpPr>
        <p:spPr>
          <a:xfrm>
            <a:off x="3867910" y="3209290"/>
            <a:ext cx="135331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00E5A0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347" name="Shape 50"/>
          <p:cNvSpPr/>
          <p:nvPr/>
        </p:nvSpPr>
        <p:spPr>
          <a:xfrm>
            <a:off x="5257798" y="3063238"/>
            <a:ext cx="1463043" cy="438914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8" name="Text 51"/>
          <p:cNvSpPr txBox="1"/>
          <p:nvPr/>
        </p:nvSpPr>
        <p:spPr>
          <a:xfrm>
            <a:off x="5330952" y="3209290"/>
            <a:ext cx="135331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00E5A0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349" name="Shape 52"/>
          <p:cNvSpPr/>
          <p:nvPr/>
        </p:nvSpPr>
        <p:spPr>
          <a:xfrm>
            <a:off x="6720840" y="3063238"/>
            <a:ext cx="1463042" cy="438914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0" name="Text 53"/>
          <p:cNvSpPr txBox="1"/>
          <p:nvPr/>
        </p:nvSpPr>
        <p:spPr>
          <a:xfrm>
            <a:off x="6793992" y="3221990"/>
            <a:ext cx="135331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4466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351" name="Shape 54"/>
          <p:cNvSpPr/>
          <p:nvPr/>
        </p:nvSpPr>
        <p:spPr>
          <a:xfrm>
            <a:off x="320040" y="3520440"/>
            <a:ext cx="2011679" cy="438914"/>
          </a:xfrm>
          <a:prstGeom prst="rect">
            <a:avLst/>
          </a:prstGeom>
          <a:solidFill>
            <a:srgbClr val="001A0D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2" name="Text 55"/>
          <p:cNvSpPr txBox="1"/>
          <p:nvPr/>
        </p:nvSpPr>
        <p:spPr>
          <a:xfrm>
            <a:off x="393192" y="3674072"/>
            <a:ext cx="1901951" cy="149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0E5A0"/>
                </a:solidFill>
              </a:defRPr>
            </a:lvl1pPr>
          </a:lstStyle>
          <a:p>
            <a:pPr/>
            <a:r>
              <a:t>AIR OS ✦</a:t>
            </a:r>
          </a:p>
        </p:txBody>
      </p:sp>
      <p:sp>
        <p:nvSpPr>
          <p:cNvPr id="353" name="Shape 56"/>
          <p:cNvSpPr/>
          <p:nvPr/>
        </p:nvSpPr>
        <p:spPr>
          <a:xfrm>
            <a:off x="2331720" y="3520440"/>
            <a:ext cx="1463042" cy="438914"/>
          </a:xfrm>
          <a:prstGeom prst="rect">
            <a:avLst/>
          </a:prstGeom>
          <a:solidFill>
            <a:srgbClr val="001A0D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4" name="Text 57"/>
          <p:cNvSpPr txBox="1"/>
          <p:nvPr/>
        </p:nvSpPr>
        <p:spPr>
          <a:xfrm>
            <a:off x="2404871" y="3666488"/>
            <a:ext cx="135331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0E5A0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355" name="Shape 58"/>
          <p:cNvSpPr/>
          <p:nvPr/>
        </p:nvSpPr>
        <p:spPr>
          <a:xfrm>
            <a:off x="3794759" y="3520440"/>
            <a:ext cx="1463042" cy="438914"/>
          </a:xfrm>
          <a:prstGeom prst="rect">
            <a:avLst/>
          </a:prstGeom>
          <a:solidFill>
            <a:srgbClr val="001A0D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6" name="Text 59"/>
          <p:cNvSpPr txBox="1"/>
          <p:nvPr/>
        </p:nvSpPr>
        <p:spPr>
          <a:xfrm>
            <a:off x="3867910" y="3666488"/>
            <a:ext cx="135331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0E5A0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357" name="Shape 60"/>
          <p:cNvSpPr/>
          <p:nvPr/>
        </p:nvSpPr>
        <p:spPr>
          <a:xfrm>
            <a:off x="5257798" y="3520440"/>
            <a:ext cx="1463043" cy="438914"/>
          </a:xfrm>
          <a:prstGeom prst="rect">
            <a:avLst/>
          </a:prstGeom>
          <a:solidFill>
            <a:srgbClr val="001A0D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8" name="Text 61"/>
          <p:cNvSpPr txBox="1"/>
          <p:nvPr/>
        </p:nvSpPr>
        <p:spPr>
          <a:xfrm>
            <a:off x="5330952" y="3666488"/>
            <a:ext cx="135331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0E5A0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359" name="Shape 62"/>
          <p:cNvSpPr/>
          <p:nvPr/>
        </p:nvSpPr>
        <p:spPr>
          <a:xfrm>
            <a:off x="6720840" y="3520440"/>
            <a:ext cx="1463042" cy="438914"/>
          </a:xfrm>
          <a:prstGeom prst="rect">
            <a:avLst/>
          </a:prstGeom>
          <a:solidFill>
            <a:srgbClr val="001A0D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0" name="Text 63"/>
          <p:cNvSpPr txBox="1"/>
          <p:nvPr/>
        </p:nvSpPr>
        <p:spPr>
          <a:xfrm>
            <a:off x="6793992" y="3666488"/>
            <a:ext cx="135331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0E5A0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361" name="Shape 64"/>
          <p:cNvSpPr/>
          <p:nvPr/>
        </p:nvSpPr>
        <p:spPr>
          <a:xfrm>
            <a:off x="320040" y="3520440"/>
            <a:ext cx="8503920" cy="438914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E5A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2" name="Shape 65"/>
          <p:cNvSpPr/>
          <p:nvPr/>
        </p:nvSpPr>
        <p:spPr>
          <a:xfrm>
            <a:off x="320040" y="4160520"/>
            <a:ext cx="8503920" cy="640082"/>
          </a:xfrm>
          <a:prstGeom prst="rect">
            <a:avLst/>
          </a:prstGeom>
          <a:solidFill>
            <a:srgbClr val="0D1630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3" name="Text 66"/>
          <p:cNvSpPr txBox="1"/>
          <p:nvPr/>
        </p:nvSpPr>
        <p:spPr>
          <a:xfrm>
            <a:off x="457200" y="4417997"/>
            <a:ext cx="118872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0C2FF"/>
                </a:solidFill>
              </a:defRPr>
            </a:lvl1pPr>
          </a:lstStyle>
          <a:p>
            <a:pPr/>
            <a:r>
              <a:t>Positioning:  </a:t>
            </a:r>
          </a:p>
        </p:txBody>
      </p:sp>
      <p:sp>
        <p:nvSpPr>
          <p:cNvPr id="364" name="Text 67"/>
          <p:cNvSpPr txBox="1"/>
          <p:nvPr/>
        </p:nvSpPr>
        <p:spPr>
          <a:xfrm>
            <a:off x="1600199" y="4417997"/>
            <a:ext cx="70408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AIR OS = The intelligence layer between AI models and machines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7" name="Text 1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00C2FF"/>
                </a:solidFill>
              </a:defRPr>
            </a:lvl1pPr>
          </a:lstStyle>
          <a:p>
            <a:pPr/>
            <a:r>
              <a:t>BUSINESS MODEL</a:t>
            </a:r>
          </a:p>
        </p:txBody>
      </p:sp>
      <p:sp>
        <p:nvSpPr>
          <p:cNvPr id="368" name="Shape 2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9" name="Text 3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B2B Developer Infrastructure</a:t>
            </a:r>
          </a:p>
        </p:txBody>
      </p:sp>
      <p:sp>
        <p:nvSpPr>
          <p:cNvPr id="370" name="Shape 4"/>
          <p:cNvSpPr/>
          <p:nvPr/>
        </p:nvSpPr>
        <p:spPr>
          <a:xfrm>
            <a:off x="320040" y="1234438"/>
            <a:ext cx="2743202" cy="3520444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1" name="Shape 5"/>
          <p:cNvSpPr/>
          <p:nvPr/>
        </p:nvSpPr>
        <p:spPr>
          <a:xfrm>
            <a:off x="320040" y="1234438"/>
            <a:ext cx="2743202" cy="502921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2" name="Text 6"/>
          <p:cNvSpPr txBox="1"/>
          <p:nvPr/>
        </p:nvSpPr>
        <p:spPr>
          <a:xfrm>
            <a:off x="411479" y="1330496"/>
            <a:ext cx="256032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FREE TIER</a:t>
            </a:r>
          </a:p>
        </p:txBody>
      </p:sp>
      <p:sp>
        <p:nvSpPr>
          <p:cNvPr id="373" name="Text 7"/>
          <p:cNvSpPr txBox="1"/>
          <p:nvPr/>
        </p:nvSpPr>
        <p:spPr>
          <a:xfrm>
            <a:off x="411479" y="1544032"/>
            <a:ext cx="256032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Open Source CLI</a:t>
            </a:r>
          </a:p>
        </p:txBody>
      </p:sp>
      <p:pic>
        <p:nvPicPr>
          <p:cNvPr id="37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2148838"/>
            <a:ext cx="256034" cy="256034"/>
          </a:xfrm>
          <a:prstGeom prst="rect">
            <a:avLst/>
          </a:prstGeom>
          <a:ln w="12700">
            <a:miter lim="400000"/>
          </a:ln>
        </p:spPr>
      </p:pic>
      <p:sp>
        <p:nvSpPr>
          <p:cNvPr id="375" name="Text 8"/>
          <p:cNvSpPr txBox="1"/>
          <p:nvPr/>
        </p:nvSpPr>
        <p:spPr>
          <a:xfrm>
            <a:off x="822958" y="2223438"/>
            <a:ext cx="210312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SDK access</a:t>
            </a:r>
          </a:p>
        </p:txBody>
      </p:sp>
      <p:pic>
        <p:nvPicPr>
          <p:cNvPr id="376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2651760"/>
            <a:ext cx="256034" cy="256034"/>
          </a:xfrm>
          <a:prstGeom prst="rect">
            <a:avLst/>
          </a:prstGeom>
          <a:ln w="12700">
            <a:miter lim="400000"/>
          </a:ln>
        </p:spPr>
      </p:pic>
      <p:sp>
        <p:nvSpPr>
          <p:cNvPr id="377" name="Text 9"/>
          <p:cNvSpPr txBox="1"/>
          <p:nvPr/>
        </p:nvSpPr>
        <p:spPr>
          <a:xfrm>
            <a:off x="822958" y="2726358"/>
            <a:ext cx="210312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Local execution</a:t>
            </a:r>
          </a:p>
        </p:txBody>
      </p:sp>
      <p:pic>
        <p:nvPicPr>
          <p:cNvPr id="378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3154678"/>
            <a:ext cx="256034" cy="256034"/>
          </a:xfrm>
          <a:prstGeom prst="rect">
            <a:avLst/>
          </a:prstGeom>
          <a:ln w="12700">
            <a:miter lim="400000"/>
          </a:ln>
        </p:spPr>
      </p:pic>
      <p:sp>
        <p:nvSpPr>
          <p:cNvPr id="379" name="Text 10"/>
          <p:cNvSpPr txBox="1"/>
          <p:nvPr/>
        </p:nvSpPr>
        <p:spPr>
          <a:xfrm>
            <a:off x="822958" y="3229277"/>
            <a:ext cx="210312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Community support</a:t>
            </a:r>
          </a:p>
        </p:txBody>
      </p:sp>
      <p:pic>
        <p:nvPicPr>
          <p:cNvPr id="380" name="Image 3" descr="Imag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3657600"/>
            <a:ext cx="256034" cy="256032"/>
          </a:xfrm>
          <a:prstGeom prst="rect">
            <a:avLst/>
          </a:prstGeom>
          <a:ln w="12700">
            <a:miter lim="400000"/>
          </a:ln>
        </p:spPr>
      </p:pic>
      <p:sp>
        <p:nvSpPr>
          <p:cNvPr id="381" name="Text 11"/>
          <p:cNvSpPr txBox="1"/>
          <p:nvPr/>
        </p:nvSpPr>
        <p:spPr>
          <a:xfrm>
            <a:off x="822958" y="3732198"/>
            <a:ext cx="210312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GitHub distribution</a:t>
            </a:r>
          </a:p>
        </p:txBody>
      </p:sp>
      <p:sp>
        <p:nvSpPr>
          <p:cNvPr id="382" name="Shape 12"/>
          <p:cNvSpPr/>
          <p:nvPr/>
        </p:nvSpPr>
        <p:spPr>
          <a:xfrm>
            <a:off x="3200400" y="1234438"/>
            <a:ext cx="2743200" cy="3520444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Shape 13"/>
          <p:cNvSpPr/>
          <p:nvPr/>
        </p:nvSpPr>
        <p:spPr>
          <a:xfrm>
            <a:off x="3200400" y="1234438"/>
            <a:ext cx="2743200" cy="502921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Text 14"/>
          <p:cNvSpPr txBox="1"/>
          <p:nvPr/>
        </p:nvSpPr>
        <p:spPr>
          <a:xfrm>
            <a:off x="3291840" y="1330496"/>
            <a:ext cx="256032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40810"/>
                </a:solidFill>
              </a:defRPr>
            </a:lvl1pPr>
          </a:lstStyle>
          <a:p>
            <a:pPr/>
            <a:r>
              <a:t>RUNTIME LICENSE</a:t>
            </a:r>
          </a:p>
        </p:txBody>
      </p:sp>
      <p:sp>
        <p:nvSpPr>
          <p:cNvPr id="385" name="Text 15"/>
          <p:cNvSpPr txBox="1"/>
          <p:nvPr/>
        </p:nvSpPr>
        <p:spPr>
          <a:xfrm>
            <a:off x="3340734" y="1544032"/>
            <a:ext cx="2560323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₹ per-device / month</a:t>
            </a:r>
          </a:p>
        </p:txBody>
      </p:sp>
      <p:pic>
        <p:nvPicPr>
          <p:cNvPr id="386" name="Image 4" descr="Imag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83279" y="2148838"/>
            <a:ext cx="256034" cy="256034"/>
          </a:xfrm>
          <a:prstGeom prst="rect">
            <a:avLst/>
          </a:prstGeom>
          <a:ln w="12700">
            <a:miter lim="400000"/>
          </a:ln>
        </p:spPr>
      </p:pic>
      <p:sp>
        <p:nvSpPr>
          <p:cNvPr id="387" name="Text 16"/>
          <p:cNvSpPr txBox="1"/>
          <p:nvPr/>
        </p:nvSpPr>
        <p:spPr>
          <a:xfrm>
            <a:off x="3703320" y="2223438"/>
            <a:ext cx="21031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Full orchestration engine</a:t>
            </a:r>
          </a:p>
        </p:txBody>
      </p:sp>
      <p:pic>
        <p:nvPicPr>
          <p:cNvPr id="388" name="Image 5" descr="Imag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83279" y="2651760"/>
            <a:ext cx="256034" cy="256034"/>
          </a:xfrm>
          <a:prstGeom prst="rect">
            <a:avLst/>
          </a:prstGeom>
          <a:ln w="12700">
            <a:miter lim="400000"/>
          </a:ln>
        </p:spPr>
      </p:pic>
      <p:sp>
        <p:nvSpPr>
          <p:cNvPr id="389" name="Text 17"/>
          <p:cNvSpPr txBox="1"/>
          <p:nvPr/>
        </p:nvSpPr>
        <p:spPr>
          <a:xfrm>
            <a:off x="3703320" y="2726358"/>
            <a:ext cx="21031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Cloud hybrid execution</a:t>
            </a:r>
          </a:p>
        </p:txBody>
      </p:sp>
      <p:pic>
        <p:nvPicPr>
          <p:cNvPr id="390" name="Image 6" descr="Imag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83279" y="3154678"/>
            <a:ext cx="256034" cy="256034"/>
          </a:xfrm>
          <a:prstGeom prst="rect">
            <a:avLst/>
          </a:prstGeom>
          <a:ln w="12700">
            <a:miter lim="400000"/>
          </a:ln>
        </p:spPr>
      </p:pic>
      <p:sp>
        <p:nvSpPr>
          <p:cNvPr id="391" name="Text 18"/>
          <p:cNvSpPr txBox="1"/>
          <p:nvPr/>
        </p:nvSpPr>
        <p:spPr>
          <a:xfrm>
            <a:off x="3703320" y="3229277"/>
            <a:ext cx="210312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Priority model routing</a:t>
            </a:r>
          </a:p>
        </p:txBody>
      </p:sp>
      <p:pic>
        <p:nvPicPr>
          <p:cNvPr id="392" name="Image 7" descr="Imag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83279" y="3657600"/>
            <a:ext cx="256034" cy="256032"/>
          </a:xfrm>
          <a:prstGeom prst="rect">
            <a:avLst/>
          </a:prstGeom>
          <a:ln w="12700">
            <a:miter lim="400000"/>
          </a:ln>
        </p:spPr>
      </p:pic>
      <p:sp>
        <p:nvSpPr>
          <p:cNvPr id="393" name="Text 19"/>
          <p:cNvSpPr txBox="1"/>
          <p:nvPr/>
        </p:nvSpPr>
        <p:spPr>
          <a:xfrm>
            <a:off x="3703320" y="3732198"/>
            <a:ext cx="21031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SLA support</a:t>
            </a:r>
          </a:p>
        </p:txBody>
      </p:sp>
      <p:sp>
        <p:nvSpPr>
          <p:cNvPr id="394" name="Shape 20"/>
          <p:cNvSpPr/>
          <p:nvPr/>
        </p:nvSpPr>
        <p:spPr>
          <a:xfrm>
            <a:off x="6080759" y="1234438"/>
            <a:ext cx="2743202" cy="3520444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Shape 21"/>
          <p:cNvSpPr/>
          <p:nvPr/>
        </p:nvSpPr>
        <p:spPr>
          <a:xfrm>
            <a:off x="6080759" y="1234438"/>
            <a:ext cx="2743202" cy="502921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6" name="Text 22"/>
          <p:cNvSpPr txBox="1"/>
          <p:nvPr/>
        </p:nvSpPr>
        <p:spPr>
          <a:xfrm>
            <a:off x="6172198" y="1330496"/>
            <a:ext cx="256032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ENTERPRISE</a:t>
            </a:r>
          </a:p>
        </p:txBody>
      </p:sp>
      <p:sp>
        <p:nvSpPr>
          <p:cNvPr id="397" name="Text 23"/>
          <p:cNvSpPr txBox="1"/>
          <p:nvPr/>
        </p:nvSpPr>
        <p:spPr>
          <a:xfrm>
            <a:off x="6217918" y="1544032"/>
            <a:ext cx="2560323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Custom pricing</a:t>
            </a:r>
          </a:p>
        </p:txBody>
      </p:sp>
      <p:pic>
        <p:nvPicPr>
          <p:cNvPr id="398" name="Image 8" descr="Imag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63640" y="2148838"/>
            <a:ext cx="256034" cy="256034"/>
          </a:xfrm>
          <a:prstGeom prst="rect">
            <a:avLst/>
          </a:prstGeom>
          <a:ln w="12700">
            <a:miter lim="400000"/>
          </a:ln>
        </p:spPr>
      </p:pic>
      <p:sp>
        <p:nvSpPr>
          <p:cNvPr id="399" name="Text 24"/>
          <p:cNvSpPr txBox="1"/>
          <p:nvPr/>
        </p:nvSpPr>
        <p:spPr>
          <a:xfrm>
            <a:off x="6583680" y="2223438"/>
            <a:ext cx="21031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On-premise deployment</a:t>
            </a:r>
          </a:p>
        </p:txBody>
      </p:sp>
      <p:pic>
        <p:nvPicPr>
          <p:cNvPr id="400" name="Image 9" descr="Imag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63640" y="2651760"/>
            <a:ext cx="256034" cy="256034"/>
          </a:xfrm>
          <a:prstGeom prst="rect">
            <a:avLst/>
          </a:prstGeom>
          <a:ln w="12700">
            <a:miter lim="400000"/>
          </a:ln>
        </p:spPr>
      </p:pic>
      <p:sp>
        <p:nvSpPr>
          <p:cNvPr id="401" name="Text 25"/>
          <p:cNvSpPr txBox="1"/>
          <p:nvPr/>
        </p:nvSpPr>
        <p:spPr>
          <a:xfrm>
            <a:off x="6583680" y="2726358"/>
            <a:ext cx="21031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Custom model integration</a:t>
            </a:r>
          </a:p>
        </p:txBody>
      </p:sp>
      <p:pic>
        <p:nvPicPr>
          <p:cNvPr id="402" name="Image 10" descr="Image 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63640" y="3154678"/>
            <a:ext cx="256034" cy="256034"/>
          </a:xfrm>
          <a:prstGeom prst="rect">
            <a:avLst/>
          </a:prstGeom>
          <a:ln w="12700">
            <a:miter lim="400000"/>
          </a:ln>
        </p:spPr>
      </p:pic>
      <p:sp>
        <p:nvSpPr>
          <p:cNvPr id="403" name="Text 26"/>
          <p:cNvSpPr txBox="1"/>
          <p:nvPr/>
        </p:nvSpPr>
        <p:spPr>
          <a:xfrm>
            <a:off x="6583680" y="3229277"/>
            <a:ext cx="210312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Dedicated infra</a:t>
            </a:r>
          </a:p>
        </p:txBody>
      </p:sp>
      <p:pic>
        <p:nvPicPr>
          <p:cNvPr id="404" name="Image 11" descr="Imag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63640" y="3657600"/>
            <a:ext cx="256034" cy="256032"/>
          </a:xfrm>
          <a:prstGeom prst="rect">
            <a:avLst/>
          </a:prstGeom>
          <a:ln w="12700">
            <a:miter lim="400000"/>
          </a:ln>
        </p:spPr>
      </p:pic>
      <p:sp>
        <p:nvSpPr>
          <p:cNvPr id="405" name="Text 27"/>
          <p:cNvSpPr txBox="1"/>
          <p:nvPr/>
        </p:nvSpPr>
        <p:spPr>
          <a:xfrm>
            <a:off x="6583680" y="3732198"/>
            <a:ext cx="21031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Multi-device fleet mgmt</a:t>
            </a:r>
          </a:p>
        </p:txBody>
      </p:sp>
      <p:sp>
        <p:nvSpPr>
          <p:cNvPr id="406" name="Shape 28"/>
          <p:cNvSpPr/>
          <p:nvPr/>
        </p:nvSpPr>
        <p:spPr>
          <a:xfrm>
            <a:off x="320040" y="4846320"/>
            <a:ext cx="8503920" cy="137162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7" name="Text 29"/>
          <p:cNvSpPr txBox="1"/>
          <p:nvPr/>
        </p:nvSpPr>
        <p:spPr>
          <a:xfrm>
            <a:off x="502918" y="4834803"/>
            <a:ext cx="8138164" cy="205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i="1" sz="900">
                <a:solidFill>
                  <a:srgbClr val="8898AA"/>
                </a:solidFill>
              </a:defRPr>
            </a:lvl1pPr>
          </a:lstStyle>
          <a:p>
            <a:pPr/>
            <a:r>
              <a:t>Initial focus: Free dev adoption → paid runtime as teams scale to production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0" name="Text 1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00C2FF"/>
                </a:solidFill>
              </a:defRPr>
            </a:lvl1pPr>
          </a:lstStyle>
          <a:p>
            <a:pPr/>
            <a:r>
              <a:t>GO-TO-MARKET</a:t>
            </a:r>
          </a:p>
        </p:txBody>
      </p:sp>
      <p:sp>
        <p:nvSpPr>
          <p:cNvPr id="411" name="Shape 2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2" name="Text 3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CLI-First Developer Adoption</a:t>
            </a:r>
          </a:p>
        </p:txBody>
      </p:sp>
      <p:sp>
        <p:nvSpPr>
          <p:cNvPr id="413" name="Shape 4"/>
          <p:cNvSpPr/>
          <p:nvPr/>
        </p:nvSpPr>
        <p:spPr>
          <a:xfrm>
            <a:off x="320040" y="1234438"/>
            <a:ext cx="2743202" cy="3474722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Shape 5"/>
          <p:cNvSpPr/>
          <p:nvPr/>
        </p:nvSpPr>
        <p:spPr>
          <a:xfrm>
            <a:off x="1371599" y="1280160"/>
            <a:ext cx="640083" cy="640083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Text 6"/>
          <p:cNvSpPr txBox="1"/>
          <p:nvPr/>
        </p:nvSpPr>
        <p:spPr>
          <a:xfrm>
            <a:off x="1417319" y="1459800"/>
            <a:ext cx="548643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040810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16" name="Text 7"/>
          <p:cNvSpPr txBox="1"/>
          <p:nvPr/>
        </p:nvSpPr>
        <p:spPr>
          <a:xfrm>
            <a:off x="411479" y="2179758"/>
            <a:ext cx="256032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Developer Seeding</a:t>
            </a:r>
          </a:p>
        </p:txBody>
      </p:sp>
      <p:sp>
        <p:nvSpPr>
          <p:cNvPr id="417" name="Text 8"/>
          <p:cNvSpPr txBox="1"/>
          <p:nvPr/>
        </p:nvSpPr>
        <p:spPr>
          <a:xfrm>
            <a:off x="548638" y="2651805"/>
            <a:ext cx="22860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00C2FF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Open-source CLI on GitHub</a:t>
            </a:r>
          </a:p>
        </p:txBody>
      </p:sp>
      <p:sp>
        <p:nvSpPr>
          <p:cNvPr id="418" name="Text 9"/>
          <p:cNvSpPr txBox="1"/>
          <p:nvPr/>
        </p:nvSpPr>
        <p:spPr>
          <a:xfrm>
            <a:off x="548638" y="3127293"/>
            <a:ext cx="22860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00C2FF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Demo videos on YouTube / X</a:t>
            </a:r>
          </a:p>
        </p:txBody>
      </p:sp>
      <p:sp>
        <p:nvSpPr>
          <p:cNvPr id="419" name="Text 10"/>
          <p:cNvSpPr txBox="1"/>
          <p:nvPr/>
        </p:nvSpPr>
        <p:spPr>
          <a:xfrm>
            <a:off x="548638" y="3602780"/>
            <a:ext cx="22860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00C2FF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Robotics dev communities</a:t>
            </a:r>
          </a:p>
        </p:txBody>
      </p:sp>
      <p:sp>
        <p:nvSpPr>
          <p:cNvPr id="420" name="Text 11"/>
          <p:cNvSpPr txBox="1"/>
          <p:nvPr/>
        </p:nvSpPr>
        <p:spPr>
          <a:xfrm>
            <a:off x="548638" y="4078268"/>
            <a:ext cx="22860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00C2FF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IIT / IISc research labs</a:t>
            </a:r>
          </a:p>
        </p:txBody>
      </p:sp>
      <p:sp>
        <p:nvSpPr>
          <p:cNvPr id="421" name="Shape 12"/>
          <p:cNvSpPr/>
          <p:nvPr/>
        </p:nvSpPr>
        <p:spPr>
          <a:xfrm>
            <a:off x="3200400" y="1234438"/>
            <a:ext cx="2743200" cy="3474722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2" name="Shape 13"/>
          <p:cNvSpPr/>
          <p:nvPr/>
        </p:nvSpPr>
        <p:spPr>
          <a:xfrm>
            <a:off x="4251959" y="1280160"/>
            <a:ext cx="640083" cy="640083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3" name="Text 14"/>
          <p:cNvSpPr txBox="1"/>
          <p:nvPr/>
        </p:nvSpPr>
        <p:spPr>
          <a:xfrm>
            <a:off x="4297679" y="1459800"/>
            <a:ext cx="54864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040810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24" name="Text 15"/>
          <p:cNvSpPr txBox="1"/>
          <p:nvPr/>
        </p:nvSpPr>
        <p:spPr>
          <a:xfrm>
            <a:off x="3291840" y="2179758"/>
            <a:ext cx="25603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Pilot Customers</a:t>
            </a:r>
          </a:p>
        </p:txBody>
      </p:sp>
      <p:sp>
        <p:nvSpPr>
          <p:cNvPr id="425" name="Text 16"/>
          <p:cNvSpPr txBox="1"/>
          <p:nvPr/>
        </p:nvSpPr>
        <p:spPr>
          <a:xfrm>
            <a:off x="3428998" y="2651805"/>
            <a:ext cx="22860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7B5EA7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3–5 drone startup pilots</a:t>
            </a:r>
          </a:p>
        </p:txBody>
      </p:sp>
      <p:sp>
        <p:nvSpPr>
          <p:cNvPr id="426" name="Text 17"/>
          <p:cNvSpPr txBox="1"/>
          <p:nvPr/>
        </p:nvSpPr>
        <p:spPr>
          <a:xfrm>
            <a:off x="3428998" y="3127293"/>
            <a:ext cx="22860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7B5EA7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Edge AI builders</a:t>
            </a:r>
          </a:p>
        </p:txBody>
      </p:sp>
      <p:sp>
        <p:nvSpPr>
          <p:cNvPr id="427" name="Text 18"/>
          <p:cNvSpPr txBox="1"/>
          <p:nvPr/>
        </p:nvSpPr>
        <p:spPr>
          <a:xfrm>
            <a:off x="3428998" y="3602780"/>
            <a:ext cx="22860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7B5EA7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Defense tech contractors</a:t>
            </a:r>
          </a:p>
        </p:txBody>
      </p:sp>
      <p:sp>
        <p:nvSpPr>
          <p:cNvPr id="428" name="Text 19"/>
          <p:cNvSpPr txBox="1"/>
          <p:nvPr/>
        </p:nvSpPr>
        <p:spPr>
          <a:xfrm>
            <a:off x="3428998" y="4078268"/>
            <a:ext cx="22860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7B5EA7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Proof of value → paid</a:t>
            </a:r>
          </a:p>
        </p:txBody>
      </p:sp>
      <p:sp>
        <p:nvSpPr>
          <p:cNvPr id="429" name="Shape 20"/>
          <p:cNvSpPr/>
          <p:nvPr/>
        </p:nvSpPr>
        <p:spPr>
          <a:xfrm>
            <a:off x="6080759" y="1234438"/>
            <a:ext cx="2743202" cy="3474722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0" name="Shape 21"/>
          <p:cNvSpPr/>
          <p:nvPr/>
        </p:nvSpPr>
        <p:spPr>
          <a:xfrm>
            <a:off x="7132318" y="1280160"/>
            <a:ext cx="640083" cy="640083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1" name="Text 22"/>
          <p:cNvSpPr txBox="1"/>
          <p:nvPr/>
        </p:nvSpPr>
        <p:spPr>
          <a:xfrm>
            <a:off x="7178039" y="1459800"/>
            <a:ext cx="54864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040810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32" name="Text 23"/>
          <p:cNvSpPr txBox="1"/>
          <p:nvPr/>
        </p:nvSpPr>
        <p:spPr>
          <a:xfrm>
            <a:off x="6172198" y="2179758"/>
            <a:ext cx="256032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Expansion</a:t>
            </a:r>
          </a:p>
        </p:txBody>
      </p:sp>
      <p:sp>
        <p:nvSpPr>
          <p:cNvPr id="433" name="Text 24"/>
          <p:cNvSpPr txBox="1"/>
          <p:nvPr/>
        </p:nvSpPr>
        <p:spPr>
          <a:xfrm>
            <a:off x="6309359" y="2651805"/>
            <a:ext cx="22860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FFB830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Enterprise SDK contracts</a:t>
            </a:r>
          </a:p>
        </p:txBody>
      </p:sp>
      <p:sp>
        <p:nvSpPr>
          <p:cNvPr id="434" name="Text 25"/>
          <p:cNvSpPr txBox="1"/>
          <p:nvPr/>
        </p:nvSpPr>
        <p:spPr>
          <a:xfrm>
            <a:off x="6309359" y="3127293"/>
            <a:ext cx="22860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FFB830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Fleet management tier</a:t>
            </a:r>
          </a:p>
        </p:txBody>
      </p:sp>
      <p:sp>
        <p:nvSpPr>
          <p:cNvPr id="435" name="Text 26"/>
          <p:cNvSpPr txBox="1"/>
          <p:nvPr/>
        </p:nvSpPr>
        <p:spPr>
          <a:xfrm>
            <a:off x="6309359" y="3602780"/>
            <a:ext cx="22860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FFB830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Hardware partner integrations</a:t>
            </a:r>
          </a:p>
        </p:txBody>
      </p:sp>
      <p:sp>
        <p:nvSpPr>
          <p:cNvPr id="436" name="Text 27"/>
          <p:cNvSpPr txBox="1"/>
          <p:nvPr/>
        </p:nvSpPr>
        <p:spPr>
          <a:xfrm>
            <a:off x="6309359" y="4078268"/>
            <a:ext cx="22860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FFB830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OEM licensing</a:t>
            </a:r>
          </a:p>
        </p:txBody>
      </p:sp>
      <p:sp>
        <p:nvSpPr>
          <p:cNvPr id="437" name="Shape 28"/>
          <p:cNvSpPr/>
          <p:nvPr/>
        </p:nvSpPr>
        <p:spPr>
          <a:xfrm>
            <a:off x="3063238" y="2971800"/>
            <a:ext cx="137162" cy="0"/>
          </a:xfrm>
          <a:prstGeom prst="line">
            <a:avLst/>
          </a:prstGeom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8" name="Shape 29"/>
          <p:cNvSpPr/>
          <p:nvPr/>
        </p:nvSpPr>
        <p:spPr>
          <a:xfrm>
            <a:off x="5943598" y="2971800"/>
            <a:ext cx="137163" cy="0"/>
          </a:xfrm>
          <a:prstGeom prst="line">
            <a:avLst/>
          </a:prstGeom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" name="label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00C2FF"/>
                </a:solidFill>
              </a:defRPr>
            </a:lvl1pPr>
          </a:lstStyle>
          <a:p>
            <a:pPr/>
            <a:r>
              <a:t>CUSTOMER ACQUISITION</a:t>
            </a:r>
          </a:p>
        </p:txBody>
      </p:sp>
      <p:sp>
        <p:nvSpPr>
          <p:cNvPr id="442" name="accentbar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7B5EA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" name="title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First 1,000 Customers — The Demo-First Strategy</a:t>
            </a:r>
          </a:p>
        </p:txBody>
      </p:sp>
      <p:sp>
        <p:nvSpPr>
          <p:cNvPr id="444" name="col504bg"/>
          <p:cNvSpPr/>
          <p:nvPr/>
        </p:nvSpPr>
        <p:spPr>
          <a:xfrm>
            <a:off x="320040" y="1234438"/>
            <a:ext cx="2743201" cy="3474722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5" name="col504circle"/>
          <p:cNvSpPr/>
          <p:nvPr/>
        </p:nvSpPr>
        <p:spPr>
          <a:xfrm>
            <a:off x="1371599" y="1280160"/>
            <a:ext cx="640083" cy="640083"/>
          </a:xfrm>
          <a:prstGeom prst="ellipse">
            <a:avLst/>
          </a:prstGeom>
          <a:solidFill>
            <a:srgbClr val="00C2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6" name="col504num"/>
          <p:cNvSpPr txBox="1"/>
          <p:nvPr/>
        </p:nvSpPr>
        <p:spPr>
          <a:xfrm>
            <a:off x="1417319" y="1459800"/>
            <a:ext cx="548641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040810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47" name="col504hdr"/>
          <p:cNvSpPr txBox="1"/>
          <p:nvPr/>
        </p:nvSpPr>
        <p:spPr>
          <a:xfrm>
            <a:off x="411479" y="2179758"/>
            <a:ext cx="25603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Institutes &amp; Colleges</a:t>
            </a:r>
          </a:p>
        </p:txBody>
      </p:sp>
      <p:sp>
        <p:nvSpPr>
          <p:cNvPr id="448" name="col504b0"/>
          <p:cNvSpPr txBox="1"/>
          <p:nvPr/>
        </p:nvSpPr>
        <p:spPr>
          <a:xfrm>
            <a:off x="548638" y="2651805"/>
            <a:ext cx="22860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00C2FF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Live demos at IITs, IIITs, NITs</a:t>
            </a:r>
          </a:p>
        </p:txBody>
      </p:sp>
      <p:sp>
        <p:nvSpPr>
          <p:cNvPr id="449" name="col504b1"/>
          <p:cNvSpPr txBox="1"/>
          <p:nvPr/>
        </p:nvSpPr>
        <p:spPr>
          <a:xfrm>
            <a:off x="548638" y="3127293"/>
            <a:ext cx="22860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00C2FF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Robotics &amp; AI research labs</a:t>
            </a:r>
          </a:p>
        </p:txBody>
      </p:sp>
      <p:sp>
        <p:nvSpPr>
          <p:cNvPr id="450" name="col504b2"/>
          <p:cNvSpPr txBox="1"/>
          <p:nvPr/>
        </p:nvSpPr>
        <p:spPr>
          <a:xfrm>
            <a:off x="548638" y="3602780"/>
            <a:ext cx="22860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00C2FF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Student dev clubs &amp; hackathons</a:t>
            </a:r>
          </a:p>
        </p:txBody>
      </p:sp>
      <p:sp>
        <p:nvSpPr>
          <p:cNvPr id="451" name="col504b3"/>
          <p:cNvSpPr txBox="1"/>
          <p:nvPr/>
        </p:nvSpPr>
        <p:spPr>
          <a:xfrm>
            <a:off x="548638" y="4078268"/>
            <a:ext cx="22860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00C2FF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Target: ~300 early adopters</a:t>
            </a:r>
          </a:p>
        </p:txBody>
      </p:sp>
      <p:sp>
        <p:nvSpPr>
          <p:cNvPr id="452" name="col514bg"/>
          <p:cNvSpPr/>
          <p:nvPr/>
        </p:nvSpPr>
        <p:spPr>
          <a:xfrm>
            <a:off x="3200400" y="1234438"/>
            <a:ext cx="2743200" cy="3474722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3" name="col514circle"/>
          <p:cNvSpPr/>
          <p:nvPr/>
        </p:nvSpPr>
        <p:spPr>
          <a:xfrm>
            <a:off x="4251959" y="1280160"/>
            <a:ext cx="640083" cy="640083"/>
          </a:xfrm>
          <a:prstGeom prst="ellipse">
            <a:avLst/>
          </a:prstGeom>
          <a:solidFill>
            <a:srgbClr val="7B5EA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4" name="col514num"/>
          <p:cNvSpPr txBox="1"/>
          <p:nvPr/>
        </p:nvSpPr>
        <p:spPr>
          <a:xfrm>
            <a:off x="4297679" y="1459800"/>
            <a:ext cx="54864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040810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55" name="col514hdr"/>
          <p:cNvSpPr txBox="1"/>
          <p:nvPr/>
        </p:nvSpPr>
        <p:spPr>
          <a:xfrm>
            <a:off x="3291840" y="2179758"/>
            <a:ext cx="25603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AI &amp; Robotics Companies</a:t>
            </a:r>
          </a:p>
        </p:txBody>
      </p:sp>
      <p:sp>
        <p:nvSpPr>
          <p:cNvPr id="456" name="col514b0"/>
          <p:cNvSpPr txBox="1"/>
          <p:nvPr/>
        </p:nvSpPr>
        <p:spPr>
          <a:xfrm>
            <a:off x="3428998" y="2651805"/>
            <a:ext cx="22860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7B5EA7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In-person demos at drone startups</a:t>
            </a:r>
          </a:p>
        </p:txBody>
      </p:sp>
      <p:sp>
        <p:nvSpPr>
          <p:cNvPr id="457" name="col514b1"/>
          <p:cNvSpPr txBox="1"/>
          <p:nvPr/>
        </p:nvSpPr>
        <p:spPr>
          <a:xfrm>
            <a:off x="3428998" y="3127293"/>
            <a:ext cx="22860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7B5EA7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Edge AI &amp; robotics meetups</a:t>
            </a:r>
          </a:p>
        </p:txBody>
      </p:sp>
      <p:sp>
        <p:nvSpPr>
          <p:cNvPr id="458" name="col514b2"/>
          <p:cNvSpPr txBox="1"/>
          <p:nvPr/>
        </p:nvSpPr>
        <p:spPr>
          <a:xfrm>
            <a:off x="3428998" y="3602780"/>
            <a:ext cx="22860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7B5EA7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Defense tech contractors</a:t>
            </a:r>
          </a:p>
        </p:txBody>
      </p:sp>
      <p:sp>
        <p:nvSpPr>
          <p:cNvPr id="459" name="col514b3"/>
          <p:cNvSpPr txBox="1"/>
          <p:nvPr/>
        </p:nvSpPr>
        <p:spPr>
          <a:xfrm>
            <a:off x="3428998" y="4078268"/>
            <a:ext cx="22860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7B5EA7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Target: ~500 pilot users</a:t>
            </a:r>
          </a:p>
        </p:txBody>
      </p:sp>
      <p:sp>
        <p:nvSpPr>
          <p:cNvPr id="460" name="col524bg"/>
          <p:cNvSpPr/>
          <p:nvPr/>
        </p:nvSpPr>
        <p:spPr>
          <a:xfrm>
            <a:off x="6080759" y="1234438"/>
            <a:ext cx="2743201" cy="3474722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1" name="col524circle"/>
          <p:cNvSpPr/>
          <p:nvPr/>
        </p:nvSpPr>
        <p:spPr>
          <a:xfrm>
            <a:off x="7132318" y="1280160"/>
            <a:ext cx="640083" cy="640083"/>
          </a:xfrm>
          <a:prstGeom prst="ellipse">
            <a:avLst/>
          </a:prstGeom>
          <a:solidFill>
            <a:srgbClr val="FFB83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2" name="col524num"/>
          <p:cNvSpPr txBox="1"/>
          <p:nvPr/>
        </p:nvSpPr>
        <p:spPr>
          <a:xfrm>
            <a:off x="7178039" y="1459800"/>
            <a:ext cx="548642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400">
                <a:solidFill>
                  <a:srgbClr val="040810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63" name="col524hdr"/>
          <p:cNvSpPr txBox="1"/>
          <p:nvPr/>
        </p:nvSpPr>
        <p:spPr>
          <a:xfrm>
            <a:off x="6172198" y="2179758"/>
            <a:ext cx="25603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Convert &amp; Scale</a:t>
            </a:r>
          </a:p>
        </p:txBody>
      </p:sp>
      <p:sp>
        <p:nvSpPr>
          <p:cNvPr id="464" name="col524b0"/>
          <p:cNvSpPr txBox="1"/>
          <p:nvPr/>
        </p:nvSpPr>
        <p:spPr>
          <a:xfrm>
            <a:off x="6309359" y="2651805"/>
            <a:ext cx="22860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FFB830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Free tier to paid runtime</a:t>
            </a:r>
          </a:p>
        </p:txBody>
      </p:sp>
      <p:sp>
        <p:nvSpPr>
          <p:cNvPr id="465" name="col524b1"/>
          <p:cNvSpPr txBox="1"/>
          <p:nvPr/>
        </p:nvSpPr>
        <p:spPr>
          <a:xfrm>
            <a:off x="6309359" y="3127293"/>
            <a:ext cx="2286002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FFB830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₹500–₹2,000/device/month</a:t>
            </a:r>
          </a:p>
        </p:txBody>
      </p:sp>
      <p:sp>
        <p:nvSpPr>
          <p:cNvPr id="466" name="col524b2"/>
          <p:cNvSpPr txBox="1"/>
          <p:nvPr/>
        </p:nvSpPr>
        <p:spPr>
          <a:xfrm>
            <a:off x="6309359" y="3602780"/>
            <a:ext cx="22860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FFB830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Community to pilot to enterprise</a:t>
            </a:r>
          </a:p>
        </p:txBody>
      </p:sp>
      <p:sp>
        <p:nvSpPr>
          <p:cNvPr id="467" name="col524b3"/>
          <p:cNvSpPr txBox="1"/>
          <p:nvPr/>
        </p:nvSpPr>
        <p:spPr>
          <a:xfrm>
            <a:off x="6309359" y="4078268"/>
            <a:ext cx="2286002" cy="22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000">
                <a:solidFill>
                  <a:srgbClr val="FFB830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Goal: 1,000 users in 3 months</a:t>
            </a:r>
          </a:p>
        </p:txBody>
      </p:sp>
      <p:sp>
        <p:nvSpPr>
          <p:cNvPr id="468" name="sep1"/>
          <p:cNvSpPr/>
          <p:nvPr/>
        </p:nvSpPr>
        <p:spPr>
          <a:xfrm>
            <a:off x="3063238" y="2971800"/>
            <a:ext cx="137162" cy="0"/>
          </a:xfrm>
          <a:prstGeom prst="line">
            <a:avLst/>
          </a:prstGeom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9" name="sep2"/>
          <p:cNvSpPr/>
          <p:nvPr/>
        </p:nvSpPr>
        <p:spPr>
          <a:xfrm>
            <a:off x="5943598" y="2971800"/>
            <a:ext cx="137163" cy="0"/>
          </a:xfrm>
          <a:prstGeom prst="line">
            <a:avLst/>
          </a:prstGeom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2" name="Text 1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00C2FF"/>
                </a:solidFill>
              </a:defRPr>
            </a:lvl1pPr>
          </a:lstStyle>
          <a:p>
            <a:pPr/>
            <a:r>
              <a:t>PRODUCT ROADMAP</a:t>
            </a:r>
          </a:p>
        </p:txBody>
      </p:sp>
      <p:sp>
        <p:nvSpPr>
          <p:cNvPr id="473" name="Shape 2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4" name="Text 3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6 &amp; 12 Month Milestones</a:t>
            </a:r>
          </a:p>
        </p:txBody>
      </p:sp>
      <p:sp>
        <p:nvSpPr>
          <p:cNvPr id="475" name="Shape 4"/>
          <p:cNvSpPr/>
          <p:nvPr/>
        </p:nvSpPr>
        <p:spPr>
          <a:xfrm>
            <a:off x="457200" y="2788920"/>
            <a:ext cx="8229601" cy="1"/>
          </a:xfrm>
          <a:prstGeom prst="line">
            <a:avLst/>
          </a:prstGeom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6" name="Shape 5"/>
          <p:cNvSpPr/>
          <p:nvPr/>
        </p:nvSpPr>
        <p:spPr>
          <a:xfrm>
            <a:off x="320040" y="2670048"/>
            <a:ext cx="274323" cy="274323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7" name="Shape 6"/>
          <p:cNvSpPr/>
          <p:nvPr/>
        </p:nvSpPr>
        <p:spPr>
          <a:xfrm>
            <a:off x="384047" y="2734055"/>
            <a:ext cx="146307" cy="146307"/>
          </a:xfrm>
          <a:prstGeom prst="ellipse">
            <a:avLst/>
          </a:prstGeom>
          <a:solidFill>
            <a:srgbClr val="06091A"/>
          </a:solidFill>
          <a:ln w="12700">
            <a:solidFill>
              <a:srgbClr val="06091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8" name="Shape 7"/>
          <p:cNvSpPr/>
          <p:nvPr/>
        </p:nvSpPr>
        <p:spPr>
          <a:xfrm flipH="1">
            <a:off x="457198" y="1417318"/>
            <a:ext cx="3" cy="1252731"/>
          </a:xfrm>
          <a:prstGeom prst="line">
            <a:avLst/>
          </a:prstGeom>
          <a:ln w="12700">
            <a:solidFill>
              <a:srgbClr val="00E5A0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9" name="Text 8"/>
          <p:cNvSpPr txBox="1"/>
          <p:nvPr/>
        </p:nvSpPr>
        <p:spPr>
          <a:xfrm>
            <a:off x="0" y="850899"/>
            <a:ext cx="914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800">
                <a:solidFill>
                  <a:srgbClr val="00E5A0"/>
                </a:solidFill>
              </a:defRPr>
            </a:lvl1pPr>
          </a:lstStyle>
          <a:p>
            <a:pPr/>
            <a:r>
              <a:t>NOW</a:t>
            </a:r>
          </a:p>
        </p:txBody>
      </p:sp>
      <p:sp>
        <p:nvSpPr>
          <p:cNvPr id="480" name="Text 9"/>
          <p:cNvSpPr txBox="1"/>
          <p:nvPr/>
        </p:nvSpPr>
        <p:spPr>
          <a:xfrm>
            <a:off x="-91441" y="1213025"/>
            <a:ext cx="10972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MVP</a:t>
            </a:r>
          </a:p>
        </p:txBody>
      </p:sp>
      <p:sp>
        <p:nvSpPr>
          <p:cNvPr id="481" name="Text 10"/>
          <p:cNvSpPr txBox="1"/>
          <p:nvPr/>
        </p:nvSpPr>
        <p:spPr>
          <a:xfrm>
            <a:off x="-137160" y="1713010"/>
            <a:ext cx="1188720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8898AA"/>
                </a:solidFill>
              </a:defRPr>
            </a:pPr>
            <a:r>
              <a:t>CLI prototype working</a:t>
            </a:r>
          </a:p>
          <a:p>
            <a:pPr algn="ctr">
              <a:defRPr sz="800">
                <a:solidFill>
                  <a:srgbClr val="8898AA"/>
                </a:solidFill>
              </a:defRPr>
            </a:pPr>
            <a:r>
              <a:t>Vision→Plan→Control</a:t>
            </a:r>
          </a:p>
        </p:txBody>
      </p:sp>
      <p:sp>
        <p:nvSpPr>
          <p:cNvPr id="482" name="Shape 11"/>
          <p:cNvSpPr/>
          <p:nvPr/>
        </p:nvSpPr>
        <p:spPr>
          <a:xfrm>
            <a:off x="2240278" y="2670048"/>
            <a:ext cx="274323" cy="274323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3" name="Shape 12"/>
          <p:cNvSpPr/>
          <p:nvPr/>
        </p:nvSpPr>
        <p:spPr>
          <a:xfrm>
            <a:off x="2304288" y="2734055"/>
            <a:ext cx="146307" cy="146307"/>
          </a:xfrm>
          <a:prstGeom prst="ellipse">
            <a:avLst/>
          </a:prstGeom>
          <a:solidFill>
            <a:srgbClr val="06091A"/>
          </a:solidFill>
          <a:ln w="12700">
            <a:solidFill>
              <a:srgbClr val="06091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4" name="Shape 13"/>
          <p:cNvSpPr/>
          <p:nvPr/>
        </p:nvSpPr>
        <p:spPr>
          <a:xfrm>
            <a:off x="2377439" y="2944367"/>
            <a:ext cx="2" cy="210314"/>
          </a:xfrm>
          <a:prstGeom prst="line">
            <a:avLst/>
          </a:prstGeom>
          <a:ln w="12700">
            <a:solidFill>
              <a:srgbClr val="00C2FF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5" name="Text 14"/>
          <p:cNvSpPr txBox="1"/>
          <p:nvPr/>
        </p:nvSpPr>
        <p:spPr>
          <a:xfrm>
            <a:off x="1920238" y="4051299"/>
            <a:ext cx="9144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800">
                <a:solidFill>
                  <a:srgbClr val="00C2FF"/>
                </a:solidFill>
              </a:defRPr>
            </a:lvl1pPr>
          </a:lstStyle>
          <a:p>
            <a:pPr/>
            <a:r>
              <a:t>M3</a:t>
            </a:r>
          </a:p>
        </p:txBody>
      </p:sp>
      <p:sp>
        <p:nvSpPr>
          <p:cNvPr id="486" name="Text 15"/>
          <p:cNvSpPr txBox="1"/>
          <p:nvPr/>
        </p:nvSpPr>
        <p:spPr>
          <a:xfrm>
            <a:off x="1828799" y="3270425"/>
            <a:ext cx="10972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Alpha SDK</a:t>
            </a:r>
          </a:p>
        </p:txBody>
      </p:sp>
      <p:sp>
        <p:nvSpPr>
          <p:cNvPr id="487" name="Text 16"/>
          <p:cNvSpPr txBox="1"/>
          <p:nvPr/>
        </p:nvSpPr>
        <p:spPr>
          <a:xfrm>
            <a:off x="1783078" y="3770411"/>
            <a:ext cx="1188722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8898AA"/>
                </a:solidFill>
              </a:defRPr>
            </a:pPr>
            <a:r>
              <a:t>Stable orchestration</a:t>
            </a:r>
          </a:p>
          <a:p>
            <a:pPr algn="ctr">
              <a:defRPr sz="800">
                <a:solidFill>
                  <a:srgbClr val="8898AA"/>
                </a:solidFill>
              </a:defRPr>
            </a:pPr>
            <a:r>
              <a:t>Developer CLI release</a:t>
            </a:r>
          </a:p>
        </p:txBody>
      </p:sp>
      <p:sp>
        <p:nvSpPr>
          <p:cNvPr id="488" name="Shape 17"/>
          <p:cNvSpPr/>
          <p:nvPr/>
        </p:nvSpPr>
        <p:spPr>
          <a:xfrm>
            <a:off x="4160520" y="2670048"/>
            <a:ext cx="274323" cy="274323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9" name="Shape 18"/>
          <p:cNvSpPr/>
          <p:nvPr/>
        </p:nvSpPr>
        <p:spPr>
          <a:xfrm>
            <a:off x="4224528" y="2734055"/>
            <a:ext cx="146307" cy="146307"/>
          </a:xfrm>
          <a:prstGeom prst="ellipse">
            <a:avLst/>
          </a:prstGeom>
          <a:solidFill>
            <a:srgbClr val="06091A"/>
          </a:solidFill>
          <a:ln w="12700">
            <a:solidFill>
              <a:srgbClr val="06091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0" name="Shape 19"/>
          <p:cNvSpPr/>
          <p:nvPr/>
        </p:nvSpPr>
        <p:spPr>
          <a:xfrm>
            <a:off x="4297679" y="1417318"/>
            <a:ext cx="2" cy="1252731"/>
          </a:xfrm>
          <a:prstGeom prst="line">
            <a:avLst/>
          </a:prstGeom>
          <a:ln w="12700">
            <a:solidFill>
              <a:srgbClr val="00C2FF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1" name="Text 20"/>
          <p:cNvSpPr txBox="1"/>
          <p:nvPr/>
        </p:nvSpPr>
        <p:spPr>
          <a:xfrm>
            <a:off x="3840479" y="850899"/>
            <a:ext cx="9144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800">
                <a:solidFill>
                  <a:srgbClr val="00C2FF"/>
                </a:solidFill>
              </a:defRPr>
            </a:lvl1pPr>
          </a:lstStyle>
          <a:p>
            <a:pPr/>
            <a:r>
              <a:t>M6</a:t>
            </a:r>
          </a:p>
        </p:txBody>
      </p:sp>
      <p:sp>
        <p:nvSpPr>
          <p:cNvPr id="492" name="Text 21"/>
          <p:cNvSpPr txBox="1"/>
          <p:nvPr/>
        </p:nvSpPr>
        <p:spPr>
          <a:xfrm>
            <a:off x="3749040" y="1213025"/>
            <a:ext cx="10972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Pilot Users</a:t>
            </a:r>
          </a:p>
        </p:txBody>
      </p:sp>
      <p:sp>
        <p:nvSpPr>
          <p:cNvPr id="493" name="Text 22"/>
          <p:cNvSpPr txBox="1"/>
          <p:nvPr/>
        </p:nvSpPr>
        <p:spPr>
          <a:xfrm>
            <a:off x="3703320" y="1713010"/>
            <a:ext cx="1188722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8898AA"/>
                </a:solidFill>
              </a:defRPr>
            </a:pPr>
            <a:r>
              <a:t>3–5 drone startups</a:t>
            </a:r>
          </a:p>
          <a:p>
            <a:pPr algn="ctr">
              <a:defRPr sz="800">
                <a:solidFill>
                  <a:srgbClr val="8898AA"/>
                </a:solidFill>
              </a:defRPr>
            </a:pPr>
            <a:r>
              <a:t>Validated use cases</a:t>
            </a:r>
          </a:p>
        </p:txBody>
      </p:sp>
      <p:sp>
        <p:nvSpPr>
          <p:cNvPr id="494" name="Shape 23"/>
          <p:cNvSpPr/>
          <p:nvPr/>
        </p:nvSpPr>
        <p:spPr>
          <a:xfrm>
            <a:off x="6080759" y="2670048"/>
            <a:ext cx="274323" cy="274323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5" name="Shape 24"/>
          <p:cNvSpPr/>
          <p:nvPr/>
        </p:nvSpPr>
        <p:spPr>
          <a:xfrm>
            <a:off x="6144767" y="2734055"/>
            <a:ext cx="146307" cy="146307"/>
          </a:xfrm>
          <a:prstGeom prst="ellipse">
            <a:avLst/>
          </a:prstGeom>
          <a:solidFill>
            <a:srgbClr val="06091A"/>
          </a:solidFill>
          <a:ln w="12700">
            <a:solidFill>
              <a:srgbClr val="06091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6" name="Shape 25"/>
          <p:cNvSpPr/>
          <p:nvPr/>
        </p:nvSpPr>
        <p:spPr>
          <a:xfrm>
            <a:off x="6217920" y="2944367"/>
            <a:ext cx="2" cy="210314"/>
          </a:xfrm>
          <a:prstGeom prst="line">
            <a:avLst/>
          </a:prstGeom>
          <a:ln w="12700">
            <a:solidFill>
              <a:srgbClr val="7B5EA7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7" name="Text 26"/>
          <p:cNvSpPr txBox="1"/>
          <p:nvPr/>
        </p:nvSpPr>
        <p:spPr>
          <a:xfrm>
            <a:off x="5760720" y="4051299"/>
            <a:ext cx="9144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800">
                <a:solidFill>
                  <a:srgbClr val="7B5EA7"/>
                </a:solidFill>
              </a:defRPr>
            </a:lvl1pPr>
          </a:lstStyle>
          <a:p>
            <a:pPr/>
            <a:r>
              <a:t>M9</a:t>
            </a:r>
          </a:p>
        </p:txBody>
      </p:sp>
      <p:sp>
        <p:nvSpPr>
          <p:cNvPr id="498" name="Text 27"/>
          <p:cNvSpPr txBox="1"/>
          <p:nvPr/>
        </p:nvSpPr>
        <p:spPr>
          <a:xfrm>
            <a:off x="5669279" y="3270425"/>
            <a:ext cx="10972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Edge Opt.</a:t>
            </a:r>
          </a:p>
        </p:txBody>
      </p:sp>
      <p:sp>
        <p:nvSpPr>
          <p:cNvPr id="499" name="Text 28"/>
          <p:cNvSpPr txBox="1"/>
          <p:nvPr/>
        </p:nvSpPr>
        <p:spPr>
          <a:xfrm>
            <a:off x="5623559" y="3770411"/>
            <a:ext cx="1188722" cy="23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8898AA"/>
                </a:solidFill>
              </a:defRPr>
            </a:pPr>
            <a:r>
              <a:t>Jetson/RK3588</a:t>
            </a:r>
          </a:p>
          <a:p>
            <a:pPr algn="ctr">
              <a:defRPr sz="800">
                <a:solidFill>
                  <a:srgbClr val="8898AA"/>
                </a:solidFill>
              </a:defRPr>
            </a:pPr>
            <a:r>
              <a:t>Sub-20ms execution</a:t>
            </a:r>
          </a:p>
        </p:txBody>
      </p:sp>
      <p:sp>
        <p:nvSpPr>
          <p:cNvPr id="500" name="Shape 29"/>
          <p:cNvSpPr/>
          <p:nvPr/>
        </p:nvSpPr>
        <p:spPr>
          <a:xfrm>
            <a:off x="8000999" y="2670048"/>
            <a:ext cx="274323" cy="274323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1" name="Shape 30"/>
          <p:cNvSpPr/>
          <p:nvPr/>
        </p:nvSpPr>
        <p:spPr>
          <a:xfrm>
            <a:off x="8065006" y="2734055"/>
            <a:ext cx="146307" cy="146307"/>
          </a:xfrm>
          <a:prstGeom prst="ellipse">
            <a:avLst/>
          </a:prstGeom>
          <a:solidFill>
            <a:srgbClr val="06091A"/>
          </a:solidFill>
          <a:ln w="12700">
            <a:solidFill>
              <a:srgbClr val="06091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2" name="Shape 31"/>
          <p:cNvSpPr/>
          <p:nvPr/>
        </p:nvSpPr>
        <p:spPr>
          <a:xfrm>
            <a:off x="8138158" y="1417318"/>
            <a:ext cx="2" cy="1252731"/>
          </a:xfrm>
          <a:prstGeom prst="line">
            <a:avLst/>
          </a:prstGeom>
          <a:ln w="12700">
            <a:solidFill>
              <a:srgbClr val="FFB830"/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3" name="Text 32"/>
          <p:cNvSpPr txBox="1"/>
          <p:nvPr/>
        </p:nvSpPr>
        <p:spPr>
          <a:xfrm>
            <a:off x="7680959" y="850899"/>
            <a:ext cx="9144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800">
                <a:solidFill>
                  <a:srgbClr val="FFB830"/>
                </a:solidFill>
              </a:defRPr>
            </a:lvl1pPr>
          </a:lstStyle>
          <a:p>
            <a:pPr/>
            <a:r>
              <a:t>M12</a:t>
            </a:r>
          </a:p>
        </p:txBody>
      </p:sp>
      <p:sp>
        <p:nvSpPr>
          <p:cNvPr id="504" name="Text 33"/>
          <p:cNvSpPr txBox="1"/>
          <p:nvPr/>
        </p:nvSpPr>
        <p:spPr>
          <a:xfrm>
            <a:off x="7589518" y="1213025"/>
            <a:ext cx="10972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Enterprise</a:t>
            </a:r>
          </a:p>
        </p:txBody>
      </p:sp>
      <p:sp>
        <p:nvSpPr>
          <p:cNvPr id="505" name="Text 34"/>
          <p:cNvSpPr txBox="1"/>
          <p:nvPr/>
        </p:nvSpPr>
        <p:spPr>
          <a:xfrm>
            <a:off x="7543800" y="1713010"/>
            <a:ext cx="1188720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800">
                <a:solidFill>
                  <a:srgbClr val="8898AA"/>
                </a:solidFill>
              </a:defRPr>
            </a:pPr>
            <a:r>
              <a:t>First paid contracts</a:t>
            </a:r>
          </a:p>
          <a:p>
            <a:pPr algn="ctr">
              <a:defRPr sz="800">
                <a:solidFill>
                  <a:srgbClr val="8898AA"/>
                </a:solidFill>
              </a:defRPr>
            </a:pPr>
            <a:r>
              <a:t>Fleet mgmt tier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8" name="label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00C2FF"/>
                </a:solidFill>
              </a:defRPr>
            </a:lvl1pPr>
          </a:lstStyle>
          <a:p>
            <a:pPr/>
            <a:r>
              <a:t>THE TEAM</a:t>
            </a:r>
          </a:p>
        </p:txBody>
      </p:sp>
      <p:sp>
        <p:nvSpPr>
          <p:cNvPr id="509" name="accent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7B5EA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0" name="title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Who Is Building AIR OS</a:t>
            </a:r>
          </a:p>
        </p:txBody>
      </p:sp>
      <p:sp>
        <p:nvSpPr>
          <p:cNvPr id="511" name="founderbg"/>
          <p:cNvSpPr/>
          <p:nvPr/>
        </p:nvSpPr>
        <p:spPr>
          <a:xfrm>
            <a:off x="457199" y="1234438"/>
            <a:ext cx="3886200" cy="3474722"/>
          </a:xfrm>
          <a:prstGeom prst="rect">
            <a:avLst/>
          </a:prstGeom>
          <a:solidFill>
            <a:srgbClr val="111D3C"/>
          </a:solidFill>
          <a:ln w="1905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2" name="avatar"/>
          <p:cNvSpPr/>
          <p:nvPr/>
        </p:nvSpPr>
        <p:spPr>
          <a:xfrm>
            <a:off x="1771200" y="1371599"/>
            <a:ext cx="685801" cy="685801"/>
          </a:xfrm>
          <a:prstGeom prst="ellipse">
            <a:avLst/>
          </a:prstGeom>
          <a:solidFill>
            <a:srgbClr val="1E3A6E"/>
          </a:solidFill>
          <a:ln w="1905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3" name="initials"/>
          <p:cNvSpPr txBox="1"/>
          <p:nvPr/>
        </p:nvSpPr>
        <p:spPr>
          <a:xfrm>
            <a:off x="1771200" y="1518264"/>
            <a:ext cx="685800" cy="392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2400">
                <a:solidFill>
                  <a:srgbClr val="00C2FF"/>
                </a:solidFill>
              </a:defRPr>
            </a:lvl1pPr>
          </a:lstStyle>
          <a:p>
            <a:pPr/>
            <a:r>
              <a:t>ET</a:t>
            </a:r>
          </a:p>
        </p:txBody>
      </p:sp>
      <p:sp>
        <p:nvSpPr>
          <p:cNvPr id="514" name="foundername"/>
          <p:cNvSpPr txBox="1"/>
          <p:nvPr/>
        </p:nvSpPr>
        <p:spPr>
          <a:xfrm>
            <a:off x="548638" y="2241160"/>
            <a:ext cx="274320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Enfibio Technologies</a:t>
            </a:r>
          </a:p>
        </p:txBody>
      </p:sp>
      <p:sp>
        <p:nvSpPr>
          <p:cNvPr id="515" name="founderrole"/>
          <p:cNvSpPr txBox="1"/>
          <p:nvPr/>
        </p:nvSpPr>
        <p:spPr>
          <a:xfrm>
            <a:off x="548638" y="2491464"/>
            <a:ext cx="274320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0C2FF"/>
                </a:solidFill>
              </a:defRPr>
            </a:lvl1pPr>
          </a:lstStyle>
          <a:p>
            <a:pPr/>
            <a:r>
              <a:t>Founder &amp; CEO  |  AIR OS</a:t>
            </a:r>
          </a:p>
        </p:txBody>
      </p:sp>
      <p:sp>
        <p:nvSpPr>
          <p:cNvPr id="516" name="bio"/>
          <p:cNvSpPr txBox="1"/>
          <p:nvPr/>
        </p:nvSpPr>
        <p:spPr>
          <a:xfrm>
            <a:off x="548638" y="2740000"/>
            <a:ext cx="3200002" cy="723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000">
                <a:solidFill>
                  <a:srgbClr val="00C2FF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AI systems &amp; robotics engineering</a:t>
            </a:r>
          </a:p>
          <a:p>
            <a:pPr>
              <a:defRPr b="1" sz="1000">
                <a:solidFill>
                  <a:srgbClr val="00C2FF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Edge AI deployment &amp; model optimization</a:t>
            </a:r>
          </a:p>
          <a:p>
            <a:pPr>
              <a:defRPr b="1" sz="1000">
                <a:solidFill>
                  <a:srgbClr val="00C2FF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Built AIR OS CLI prototype on NVIDIA Jetson</a:t>
            </a:r>
          </a:p>
          <a:p>
            <a:pPr>
              <a:defRPr b="1" sz="1000">
                <a:solidFill>
                  <a:srgbClr val="00C2FF"/>
                </a:solidFill>
              </a:defRPr>
            </a:pPr>
            <a:r>
              <a:t>›  </a:t>
            </a:r>
            <a:r>
              <a:rPr b="0">
                <a:solidFill>
                  <a:srgbClr val="E8EEF8"/>
                </a:solidFill>
              </a:rPr>
              <a:t>enfibiotechnologiespvtltd@gmail.com</a:t>
            </a:r>
          </a:p>
        </p:txBody>
      </p:sp>
      <p:sp>
        <p:nvSpPr>
          <p:cNvPr id="517" name="rightbg"/>
          <p:cNvSpPr/>
          <p:nvPr/>
        </p:nvSpPr>
        <p:spPr>
          <a:xfrm>
            <a:off x="4571998" y="1234438"/>
            <a:ext cx="4115522" cy="3474722"/>
          </a:xfrm>
          <a:prstGeom prst="rect">
            <a:avLst/>
          </a:prstGeom>
          <a:solidFill>
            <a:srgbClr val="0A1228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8" name="righthdr"/>
          <p:cNvSpPr txBox="1"/>
          <p:nvPr/>
        </p:nvSpPr>
        <p:spPr>
          <a:xfrm>
            <a:off x="4663438" y="1398217"/>
            <a:ext cx="39326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B830"/>
                </a:solidFill>
              </a:defRPr>
            </a:lvl1pPr>
          </a:lstStyle>
          <a:p>
            <a:pPr/>
            <a:r>
              <a:t>What We Are Actively Building</a:t>
            </a:r>
          </a:p>
        </p:txBody>
      </p:sp>
      <p:sp>
        <p:nvSpPr>
          <p:cNvPr id="519" name="rightcontent"/>
          <p:cNvSpPr txBox="1"/>
          <p:nvPr/>
        </p:nvSpPr>
        <p:spPr>
          <a:xfrm>
            <a:off x="4663438" y="1680000"/>
            <a:ext cx="3932642" cy="1590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1600"/>
              </a:lnSpc>
              <a:defRPr b="1" sz="1000">
                <a:solidFill>
                  <a:srgbClr val="7B5EA7"/>
                </a:solidFill>
              </a:defRPr>
            </a:pPr>
            <a:r>
              <a:t>›  </a:t>
            </a:r>
            <a:r>
              <a:rPr>
                <a:solidFill>
                  <a:srgbClr val="FFFFFF"/>
                </a:solidFill>
              </a:rPr>
              <a:t>Stable orchestration engine v1.0</a:t>
            </a:r>
            <a:endParaRPr>
              <a:solidFill>
                <a:srgbClr val="FFFFFF"/>
              </a:solidFill>
            </a:endParaRPr>
          </a:p>
          <a:p>
            <a:pPr>
              <a:lnSpc>
                <a:spcPts val="1600"/>
              </a:lnSpc>
              <a:defRPr b="1" sz="1000">
                <a:solidFill>
                  <a:srgbClr val="7B5EA7"/>
                </a:solidFill>
              </a:defRPr>
            </a:pPr>
            <a:r>
              <a:t>›  </a:t>
            </a:r>
            <a:r>
              <a:rPr>
                <a:solidFill>
                  <a:srgbClr val="FFFFFF"/>
                </a:solidFill>
              </a:rPr>
              <a:t>CLI + SDK public release</a:t>
            </a:r>
            <a:endParaRPr>
              <a:solidFill>
                <a:srgbClr val="FFFFFF"/>
              </a:solidFill>
            </a:endParaRPr>
          </a:p>
          <a:p>
            <a:pPr>
              <a:lnSpc>
                <a:spcPts val="1600"/>
              </a:lnSpc>
              <a:defRPr b="1" sz="1000">
                <a:solidFill>
                  <a:srgbClr val="7B5EA7"/>
                </a:solidFill>
              </a:defRPr>
            </a:pPr>
            <a:r>
              <a:t>›  </a:t>
            </a:r>
            <a:r>
              <a:rPr>
                <a:solidFill>
                  <a:srgbClr val="FFFFFF"/>
                </a:solidFill>
              </a:rPr>
              <a:t>Sub-20ms pipeline on Jetson (M6)</a:t>
            </a:r>
            <a:endParaRPr>
              <a:solidFill>
                <a:srgbClr val="FFFFFF"/>
              </a:solidFill>
            </a:endParaRPr>
          </a:p>
          <a:p>
            <a:pPr>
              <a:lnSpc>
                <a:spcPts val="1600"/>
              </a:lnSpc>
              <a:defRPr b="1" sz="1000">
                <a:solidFill>
                  <a:srgbClr val="7B5EA7"/>
                </a:solidFill>
              </a:defRPr>
            </a:pPr>
            <a:r>
              <a:t>›  </a:t>
            </a:r>
            <a:r>
              <a:rPr>
                <a:solidFill>
                  <a:srgbClr val="FFFFFF"/>
                </a:solidFill>
              </a:rPr>
              <a:t>Looking for co-founder: hardware / robotics</a:t>
            </a:r>
            <a:endParaRPr>
              <a:solidFill>
                <a:srgbClr val="FFFFFF"/>
              </a:solidFill>
            </a:endParaRPr>
          </a:p>
          <a:p>
            <a:pPr/>
            <a:endParaRPr>
              <a:solidFill>
                <a:srgbClr val="FFFFFF"/>
              </a:solidFill>
            </a:endParaRPr>
          </a:p>
          <a:p>
            <a:pPr>
              <a:lnSpc>
                <a:spcPts val="1600"/>
              </a:lnSpc>
              <a:defRPr i="1" sz="900">
                <a:solidFill>
                  <a:srgbClr val="8A9BC4"/>
                </a:solidFill>
              </a:defRPr>
            </a:pPr>
            <a:r>
              <a:t>We are early-stage and transparent about it.</a:t>
            </a:r>
          </a:p>
          <a:p>
            <a:pPr>
              <a:lnSpc>
                <a:spcPts val="1600"/>
              </a:lnSpc>
              <a:defRPr i="1" sz="900">
                <a:solidFill>
                  <a:srgbClr val="8A9BC4"/>
                </a:solidFill>
              </a:defRPr>
            </a:pPr>
            <a:r>
              <a:t>This capital is the first step to doing it right.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2" name="Text 1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00C2FF"/>
                </a:solidFill>
              </a:defRPr>
            </a:lvl1pPr>
          </a:lstStyle>
          <a:p>
            <a:pPr/>
            <a:r>
              <a:t>WHY AIR OS WINS</a:t>
            </a:r>
          </a:p>
        </p:txBody>
      </p:sp>
      <p:sp>
        <p:nvSpPr>
          <p:cNvPr id="523" name="Shape 2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4" name="Text 3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Our Unfair Advantages</a:t>
            </a:r>
          </a:p>
        </p:txBody>
      </p:sp>
      <p:sp>
        <p:nvSpPr>
          <p:cNvPr id="525" name="Shape 4"/>
          <p:cNvSpPr/>
          <p:nvPr/>
        </p:nvSpPr>
        <p:spPr>
          <a:xfrm>
            <a:off x="320039" y="1280160"/>
            <a:ext cx="4114803" cy="1691640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6" name="Shape 5"/>
          <p:cNvSpPr/>
          <p:nvPr/>
        </p:nvSpPr>
        <p:spPr>
          <a:xfrm>
            <a:off x="320040" y="1280160"/>
            <a:ext cx="73154" cy="16916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2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1463038"/>
            <a:ext cx="502922" cy="502922"/>
          </a:xfrm>
          <a:prstGeom prst="rect">
            <a:avLst/>
          </a:prstGeom>
          <a:ln w="12700">
            <a:miter lim="400000"/>
          </a:ln>
        </p:spPr>
      </p:pic>
      <p:sp>
        <p:nvSpPr>
          <p:cNvPr id="528" name="Text 6"/>
          <p:cNvSpPr txBox="1"/>
          <p:nvPr/>
        </p:nvSpPr>
        <p:spPr>
          <a:xfrm>
            <a:off x="1142999" y="1585398"/>
            <a:ext cx="310896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AI-Native by Design</a:t>
            </a:r>
          </a:p>
        </p:txBody>
      </p:sp>
      <p:sp>
        <p:nvSpPr>
          <p:cNvPr id="529" name="Text 7"/>
          <p:cNvSpPr txBox="1"/>
          <p:nvPr/>
        </p:nvSpPr>
        <p:spPr>
          <a:xfrm>
            <a:off x="502919" y="2296336"/>
            <a:ext cx="379476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898AA"/>
                </a:solidFill>
              </a:defRPr>
            </a:lvl1pPr>
          </a:lstStyle>
          <a:p>
            <a:pPr/>
            <a:r>
              <a:t>Not a bolt-on AI layer. Intelligence is the core runtime primitive — not an afterthought.</a:t>
            </a:r>
          </a:p>
        </p:txBody>
      </p:sp>
      <p:sp>
        <p:nvSpPr>
          <p:cNvPr id="530" name="Shape 8"/>
          <p:cNvSpPr/>
          <p:nvPr/>
        </p:nvSpPr>
        <p:spPr>
          <a:xfrm>
            <a:off x="4663440" y="1280160"/>
            <a:ext cx="4114802" cy="1691640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1" name="Shape 9"/>
          <p:cNvSpPr/>
          <p:nvPr/>
        </p:nvSpPr>
        <p:spPr>
          <a:xfrm>
            <a:off x="4663440" y="1280160"/>
            <a:ext cx="73154" cy="16916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3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46320" y="1463038"/>
            <a:ext cx="502922" cy="502922"/>
          </a:xfrm>
          <a:prstGeom prst="rect">
            <a:avLst/>
          </a:prstGeom>
          <a:ln w="12700">
            <a:miter lim="400000"/>
          </a:ln>
        </p:spPr>
      </p:pic>
      <p:sp>
        <p:nvSpPr>
          <p:cNvPr id="533" name="Text 10"/>
          <p:cNvSpPr txBox="1"/>
          <p:nvPr/>
        </p:nvSpPr>
        <p:spPr>
          <a:xfrm>
            <a:off x="5486398" y="1585398"/>
            <a:ext cx="310896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Multi-Model Routing</a:t>
            </a:r>
          </a:p>
        </p:txBody>
      </p:sp>
      <p:sp>
        <p:nvSpPr>
          <p:cNvPr id="534" name="Text 11"/>
          <p:cNvSpPr txBox="1"/>
          <p:nvPr/>
        </p:nvSpPr>
        <p:spPr>
          <a:xfrm>
            <a:off x="4846320" y="2296336"/>
            <a:ext cx="3794760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898AA"/>
                </a:solidFill>
              </a:defRPr>
            </a:lvl1pPr>
          </a:lstStyle>
          <a:p>
            <a:pPr/>
            <a:r>
              <a:t>Dynamically selects the best AI model for each sub-task — no single-model constraints.</a:t>
            </a:r>
          </a:p>
        </p:txBody>
      </p:sp>
      <p:sp>
        <p:nvSpPr>
          <p:cNvPr id="535" name="Shape 12"/>
          <p:cNvSpPr/>
          <p:nvPr/>
        </p:nvSpPr>
        <p:spPr>
          <a:xfrm>
            <a:off x="320039" y="3154678"/>
            <a:ext cx="4114803" cy="1691641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6" name="Shape 13"/>
          <p:cNvSpPr/>
          <p:nvPr/>
        </p:nvSpPr>
        <p:spPr>
          <a:xfrm>
            <a:off x="320040" y="3154678"/>
            <a:ext cx="73154" cy="1691641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37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2919" y="3337559"/>
            <a:ext cx="502922" cy="502922"/>
          </a:xfrm>
          <a:prstGeom prst="rect">
            <a:avLst/>
          </a:prstGeom>
          <a:ln w="12700">
            <a:miter lim="400000"/>
          </a:ln>
        </p:spPr>
      </p:pic>
      <p:sp>
        <p:nvSpPr>
          <p:cNvPr id="538" name="Text 14"/>
          <p:cNvSpPr txBox="1"/>
          <p:nvPr/>
        </p:nvSpPr>
        <p:spPr>
          <a:xfrm>
            <a:off x="1142999" y="3459917"/>
            <a:ext cx="310896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Real-Time Robotics Focus</a:t>
            </a:r>
          </a:p>
        </p:txBody>
      </p:sp>
      <p:sp>
        <p:nvSpPr>
          <p:cNvPr id="539" name="Text 15"/>
          <p:cNvSpPr txBox="1"/>
          <p:nvPr/>
        </p:nvSpPr>
        <p:spPr>
          <a:xfrm>
            <a:off x="502919" y="4170855"/>
            <a:ext cx="3794762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898AA"/>
                </a:solidFill>
              </a:defRPr>
            </a:lvl1pPr>
          </a:lstStyle>
          <a:p>
            <a:pPr/>
            <a:r>
              <a:t>Purpose-built for sub-50ms execution on edge hardware — where existing solutions fail.</a:t>
            </a:r>
          </a:p>
        </p:txBody>
      </p:sp>
      <p:sp>
        <p:nvSpPr>
          <p:cNvPr id="540" name="Shape 16"/>
          <p:cNvSpPr/>
          <p:nvPr/>
        </p:nvSpPr>
        <p:spPr>
          <a:xfrm>
            <a:off x="4663440" y="3154678"/>
            <a:ext cx="4114802" cy="1691641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1" name="Shape 17"/>
          <p:cNvSpPr/>
          <p:nvPr/>
        </p:nvSpPr>
        <p:spPr>
          <a:xfrm>
            <a:off x="4663440" y="3154678"/>
            <a:ext cx="73154" cy="1691641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42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846320" y="3337559"/>
            <a:ext cx="502922" cy="502922"/>
          </a:xfrm>
          <a:prstGeom prst="rect">
            <a:avLst/>
          </a:prstGeom>
          <a:ln w="12700">
            <a:miter lim="400000"/>
          </a:ln>
        </p:spPr>
      </p:pic>
      <p:sp>
        <p:nvSpPr>
          <p:cNvPr id="543" name="Text 18"/>
          <p:cNvSpPr txBox="1"/>
          <p:nvPr/>
        </p:nvSpPr>
        <p:spPr>
          <a:xfrm>
            <a:off x="5486398" y="3459917"/>
            <a:ext cx="310896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Unified Dev → Deploy</a:t>
            </a:r>
          </a:p>
        </p:txBody>
      </p:sp>
      <p:sp>
        <p:nvSpPr>
          <p:cNvPr id="544" name="Text 19"/>
          <p:cNvSpPr txBox="1"/>
          <p:nvPr/>
        </p:nvSpPr>
        <p:spPr>
          <a:xfrm>
            <a:off x="4846320" y="4170855"/>
            <a:ext cx="379476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898AA"/>
                </a:solidFill>
              </a:defRPr>
            </a:lvl1pPr>
          </a:lstStyle>
          <a:p>
            <a:pPr/>
            <a:r>
              <a:t>Write once on CLI. Run the same pipeline on dev laptop, Jetson, or drone — no rewrites.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3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7" name="label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FFB830"/>
                </a:solidFill>
              </a:defRPr>
            </a:lvl1pPr>
          </a:lstStyle>
          <a:p>
            <a:pPr/>
            <a:r>
              <a:t>HONEST ASSESSMENT</a:t>
            </a:r>
          </a:p>
        </p:txBody>
      </p:sp>
      <p:sp>
        <p:nvSpPr>
          <p:cNvPr id="548" name="accent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00C2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9" name="title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What Is Not Built Yet — And Why That Is the Opportunity</a:t>
            </a:r>
          </a:p>
        </p:txBody>
      </p:sp>
      <p:sp>
        <p:nvSpPr>
          <p:cNvPr id="550" name="leftbg"/>
          <p:cNvSpPr/>
          <p:nvPr/>
        </p:nvSpPr>
        <p:spPr>
          <a:xfrm>
            <a:off x="457199" y="1234438"/>
            <a:ext cx="3886200" cy="3474722"/>
          </a:xfrm>
          <a:prstGeom prst="rect">
            <a:avLst/>
          </a:prstGeom>
          <a:solidFill>
            <a:srgbClr val="1A0D0D"/>
          </a:solidFill>
          <a:ln w="19050">
            <a:solidFill>
              <a:srgbClr val="FF444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1" name="lefthdr"/>
          <p:cNvSpPr txBox="1"/>
          <p:nvPr/>
        </p:nvSpPr>
        <p:spPr>
          <a:xfrm>
            <a:off x="548638" y="1385142"/>
            <a:ext cx="3703322" cy="192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6B6B"/>
                </a:solidFill>
              </a:defRPr>
            </a:lvl1pPr>
          </a:lstStyle>
          <a:p>
            <a:pPr/>
            <a:r>
              <a:t>⚠  Not Yet Complete</a:t>
            </a:r>
          </a:p>
        </p:txBody>
      </p:sp>
      <p:sp>
        <p:nvSpPr>
          <p:cNvPr id="552" name="leftcontent"/>
          <p:cNvSpPr txBox="1"/>
          <p:nvPr/>
        </p:nvSpPr>
        <p:spPr>
          <a:xfrm>
            <a:off x="548638" y="1680000"/>
            <a:ext cx="3703322" cy="1220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1800"/>
              </a:lnSpc>
              <a:defRPr b="1" sz="1000">
                <a:solidFill>
                  <a:srgbClr val="FF6B6B"/>
                </a:solidFill>
              </a:defRPr>
            </a:pPr>
            <a:r>
              <a:t>●  </a:t>
            </a:r>
            <a:r>
              <a:rPr b="0">
                <a:solidFill>
                  <a:srgbClr val="E8EEF8"/>
                </a:solidFill>
              </a:rPr>
              <a:t>Visual demo / screenshot UI</a:t>
            </a:r>
            <a:endParaRPr b="0">
              <a:solidFill>
                <a:srgbClr val="E8EEF8"/>
              </a:solidFill>
            </a:endParaRPr>
          </a:p>
          <a:p>
            <a:pPr>
              <a:lnSpc>
                <a:spcPts val="1800"/>
              </a:lnSpc>
              <a:defRPr b="1" sz="1000">
                <a:solidFill>
                  <a:srgbClr val="FF6B6B"/>
                </a:solidFill>
              </a:defRPr>
            </a:pPr>
            <a:r>
              <a:t>●  </a:t>
            </a:r>
            <a:r>
              <a:rPr b="0">
                <a:solidFill>
                  <a:srgbClr val="E8EEF8"/>
                </a:solidFill>
              </a:rPr>
              <a:t>Stable SDK (alpha only today)</a:t>
            </a:r>
            <a:endParaRPr b="0">
              <a:solidFill>
                <a:srgbClr val="E8EEF8"/>
              </a:solidFill>
            </a:endParaRPr>
          </a:p>
          <a:p>
            <a:pPr>
              <a:lnSpc>
                <a:spcPts val="1800"/>
              </a:lnSpc>
              <a:defRPr b="1" sz="1000">
                <a:solidFill>
                  <a:srgbClr val="FF6B6B"/>
                </a:solidFill>
              </a:defRPr>
            </a:pPr>
            <a:r>
              <a:t>●  </a:t>
            </a:r>
            <a:r>
              <a:rPr b="0">
                <a:solidFill>
                  <a:srgbClr val="E8EEF8"/>
                </a:solidFill>
              </a:rPr>
              <a:t>Sub-20ms latency (current: ~50ms benchmark)</a:t>
            </a:r>
            <a:endParaRPr b="0">
              <a:solidFill>
                <a:srgbClr val="E8EEF8"/>
              </a:solidFill>
            </a:endParaRPr>
          </a:p>
          <a:p>
            <a:pPr>
              <a:lnSpc>
                <a:spcPts val="1800"/>
              </a:lnSpc>
              <a:defRPr b="1" sz="1000">
                <a:solidFill>
                  <a:srgbClr val="FF6B6B"/>
                </a:solidFill>
              </a:defRPr>
            </a:pPr>
            <a:r>
              <a:t>●  </a:t>
            </a:r>
            <a:r>
              <a:rPr b="0">
                <a:solidFill>
                  <a:srgbClr val="E8EEF8"/>
                </a:solidFill>
              </a:rPr>
              <a:t>Hardware co-founder / robotics expert</a:t>
            </a:r>
            <a:endParaRPr b="0">
              <a:solidFill>
                <a:srgbClr val="E8EEF8"/>
              </a:solidFill>
            </a:endParaRPr>
          </a:p>
          <a:p>
            <a:pPr>
              <a:lnSpc>
                <a:spcPts val="1800"/>
              </a:lnSpc>
              <a:defRPr b="1" sz="1000">
                <a:solidFill>
                  <a:srgbClr val="FF6B6B"/>
                </a:solidFill>
              </a:defRPr>
            </a:pPr>
            <a:r>
              <a:t>●  </a:t>
            </a:r>
            <a:r>
              <a:rPr b="0">
                <a:solidFill>
                  <a:srgbClr val="E8EEF8"/>
                </a:solidFill>
              </a:rPr>
              <a:t>Fleet management tier</a:t>
            </a:r>
          </a:p>
        </p:txBody>
      </p:sp>
      <p:sp>
        <p:nvSpPr>
          <p:cNvPr id="553" name="rightbg"/>
          <p:cNvSpPr/>
          <p:nvPr/>
        </p:nvSpPr>
        <p:spPr>
          <a:xfrm>
            <a:off x="4571998" y="1234438"/>
            <a:ext cx="4115522" cy="3474722"/>
          </a:xfrm>
          <a:prstGeom prst="rect">
            <a:avLst/>
          </a:prstGeom>
          <a:solidFill>
            <a:srgbClr val="091A12"/>
          </a:solidFill>
          <a:ln w="1905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righthdr"/>
          <p:cNvSpPr txBox="1"/>
          <p:nvPr/>
        </p:nvSpPr>
        <p:spPr>
          <a:xfrm>
            <a:off x="4663438" y="1376773"/>
            <a:ext cx="3932642" cy="209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0C2FF"/>
                </a:solidFill>
              </a:defRPr>
            </a:lvl1pPr>
          </a:lstStyle>
          <a:p>
            <a:pPr/>
            <a:r>
              <a:t>✓  Why This Is the Right Time to Invest</a:t>
            </a:r>
          </a:p>
        </p:txBody>
      </p:sp>
      <p:sp>
        <p:nvSpPr>
          <p:cNvPr id="555" name="rightcontent"/>
          <p:cNvSpPr txBox="1"/>
          <p:nvPr/>
        </p:nvSpPr>
        <p:spPr>
          <a:xfrm>
            <a:off x="4663438" y="1680000"/>
            <a:ext cx="3932642" cy="1220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1800"/>
              </a:lnSpc>
              <a:defRPr b="1" sz="1000">
                <a:solidFill>
                  <a:srgbClr val="00C2FF"/>
                </a:solidFill>
              </a:defRPr>
            </a:pPr>
            <a:r>
              <a:t>●  </a:t>
            </a:r>
            <a:r>
              <a:rPr b="0">
                <a:solidFill>
                  <a:srgbClr val="E8EEF8"/>
                </a:solidFill>
              </a:rPr>
              <a:t>Core pipeline proven in prototype</a:t>
            </a:r>
            <a:endParaRPr b="0">
              <a:solidFill>
                <a:srgbClr val="E8EEF8"/>
              </a:solidFill>
            </a:endParaRPr>
          </a:p>
          <a:p>
            <a:pPr>
              <a:lnSpc>
                <a:spcPts val="1800"/>
              </a:lnSpc>
              <a:defRPr b="1" sz="1000">
                <a:solidFill>
                  <a:srgbClr val="00C2FF"/>
                </a:solidFill>
              </a:defRPr>
            </a:pPr>
            <a:r>
              <a:t>●  </a:t>
            </a:r>
            <a:r>
              <a:rPr b="0">
                <a:solidFill>
                  <a:srgbClr val="E8EEF8"/>
                </a:solidFill>
              </a:rPr>
              <a:t>Gaps are engineering, not conceptual</a:t>
            </a:r>
            <a:endParaRPr b="0">
              <a:solidFill>
                <a:srgbClr val="E8EEF8"/>
              </a:solidFill>
            </a:endParaRPr>
          </a:p>
          <a:p>
            <a:pPr>
              <a:lnSpc>
                <a:spcPts val="1800"/>
              </a:lnSpc>
              <a:defRPr b="1" sz="1000">
                <a:solidFill>
                  <a:srgbClr val="00C2FF"/>
                </a:solidFill>
              </a:defRPr>
            </a:pPr>
            <a:r>
              <a:t>●  </a:t>
            </a:r>
            <a:r>
              <a:rPr b="0">
                <a:solidFill>
                  <a:srgbClr val="E8EEF8"/>
                </a:solidFill>
              </a:rPr>
              <a:t>₹50L closes the gap in 6 months</a:t>
            </a:r>
            <a:endParaRPr b="0">
              <a:solidFill>
                <a:srgbClr val="E8EEF8"/>
              </a:solidFill>
            </a:endParaRPr>
          </a:p>
          <a:p>
            <a:pPr>
              <a:lnSpc>
                <a:spcPts val="1800"/>
              </a:lnSpc>
              <a:defRPr b="1" sz="1000">
                <a:solidFill>
                  <a:srgbClr val="00C2FF"/>
                </a:solidFill>
              </a:defRPr>
            </a:pPr>
            <a:r>
              <a:t>●  </a:t>
            </a:r>
            <a:r>
              <a:rPr b="0">
                <a:solidFill>
                  <a:srgbClr val="E8EEF8"/>
                </a:solidFill>
              </a:rPr>
              <a:t>Early investors get ground-floor pricing</a:t>
            </a:r>
            <a:endParaRPr b="0">
              <a:solidFill>
                <a:srgbClr val="E8EEF8"/>
              </a:solidFill>
            </a:endParaRPr>
          </a:p>
          <a:p>
            <a:pPr>
              <a:lnSpc>
                <a:spcPts val="1800"/>
              </a:lnSpc>
              <a:defRPr b="1" sz="1000">
                <a:solidFill>
                  <a:srgbClr val="00C2FF"/>
                </a:solidFill>
              </a:defRPr>
            </a:pPr>
            <a:r>
              <a:t>●  </a:t>
            </a:r>
            <a:r>
              <a:rPr b="0">
                <a:solidFill>
                  <a:srgbClr val="E8EEF8"/>
                </a:solidFill>
              </a:rPr>
              <a:t>No competitor has solved this at the edge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Text 1"/>
          <p:cNvSpPr txBox="1"/>
          <p:nvPr/>
        </p:nvSpPr>
        <p:spPr>
          <a:xfrm>
            <a:off x="457200" y="298626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00C2FF"/>
                </a:solidFill>
              </a:defRPr>
            </a:lvl1pPr>
          </a:lstStyle>
          <a:p>
            <a:pPr/>
            <a:r>
              <a:t>INVESTMENT OPPORTUNITY</a:t>
            </a:r>
          </a:p>
        </p:txBody>
      </p:sp>
      <p:sp>
        <p:nvSpPr>
          <p:cNvPr id="559" name="Shape 2"/>
          <p:cNvSpPr/>
          <p:nvPr/>
        </p:nvSpPr>
        <p:spPr>
          <a:xfrm>
            <a:off x="457198" y="566927"/>
            <a:ext cx="320043" cy="3657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Text 3"/>
          <p:cNvSpPr txBox="1"/>
          <p:nvPr/>
        </p:nvSpPr>
        <p:spPr>
          <a:xfrm>
            <a:off x="457200" y="782173"/>
            <a:ext cx="8229600" cy="30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Raising ₹50,00,000 Pre-Seed</a:t>
            </a:r>
          </a:p>
        </p:txBody>
      </p:sp>
      <p:sp>
        <p:nvSpPr>
          <p:cNvPr id="561" name="Shape 4"/>
          <p:cNvSpPr/>
          <p:nvPr/>
        </p:nvSpPr>
        <p:spPr>
          <a:xfrm>
            <a:off x="320038" y="1188719"/>
            <a:ext cx="3931924" cy="1371602"/>
          </a:xfrm>
          <a:prstGeom prst="rect">
            <a:avLst/>
          </a:prstGeom>
          <a:solidFill>
            <a:srgbClr val="111D3C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Text 5"/>
          <p:cNvSpPr txBox="1"/>
          <p:nvPr/>
        </p:nvSpPr>
        <p:spPr>
          <a:xfrm>
            <a:off x="457200" y="1428157"/>
            <a:ext cx="3657600" cy="490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800">
                <a:solidFill>
                  <a:srgbClr val="00C2FF"/>
                </a:solidFill>
              </a:defRPr>
            </a:lvl1pPr>
          </a:lstStyle>
          <a:p>
            <a:pPr/>
            <a:r>
              <a:t>₹50,00,000</a:t>
            </a:r>
          </a:p>
        </p:txBody>
      </p:sp>
      <p:sp>
        <p:nvSpPr>
          <p:cNvPr id="563" name="Text 6"/>
          <p:cNvSpPr txBox="1"/>
          <p:nvPr/>
        </p:nvSpPr>
        <p:spPr>
          <a:xfrm>
            <a:off x="457200" y="2062480"/>
            <a:ext cx="3657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00" sz="900">
                <a:solidFill>
                  <a:srgbClr val="8898AA"/>
                </a:solidFill>
              </a:defRPr>
            </a:lvl1pPr>
          </a:lstStyle>
          <a:p>
            <a:pPr/>
            <a:r>
              <a:t>PRE-SEED ROUND</a:t>
            </a:r>
          </a:p>
        </p:txBody>
      </p:sp>
      <p:sp>
        <p:nvSpPr>
          <p:cNvPr id="564" name="Text 7"/>
          <p:cNvSpPr txBox="1"/>
          <p:nvPr/>
        </p:nvSpPr>
        <p:spPr>
          <a:xfrm>
            <a:off x="4571998" y="1330958"/>
            <a:ext cx="420624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00C2FF"/>
                </a:solidFill>
              </a:defRPr>
            </a:lvl1pPr>
          </a:lstStyle>
          <a:p>
            <a:pPr/>
            <a:r>
              <a:t>USE OF FUNDS</a:t>
            </a:r>
          </a:p>
        </p:txBody>
      </p:sp>
      <p:sp>
        <p:nvSpPr>
          <p:cNvPr id="565" name="Shape 8"/>
          <p:cNvSpPr/>
          <p:nvPr/>
        </p:nvSpPr>
        <p:spPr>
          <a:xfrm>
            <a:off x="7269480" y="1554480"/>
            <a:ext cx="1554482" cy="548641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6" name="Shape 9"/>
          <p:cNvSpPr/>
          <p:nvPr/>
        </p:nvSpPr>
        <p:spPr>
          <a:xfrm>
            <a:off x="7269480" y="1554480"/>
            <a:ext cx="54866" cy="548641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7" name="Text 10"/>
          <p:cNvSpPr txBox="1"/>
          <p:nvPr/>
        </p:nvSpPr>
        <p:spPr>
          <a:xfrm>
            <a:off x="7388352" y="1660143"/>
            <a:ext cx="1371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50% — Engineering</a:t>
            </a:r>
          </a:p>
        </p:txBody>
      </p:sp>
      <p:sp>
        <p:nvSpPr>
          <p:cNvPr id="568" name="Text 11"/>
          <p:cNvSpPr txBox="1"/>
          <p:nvPr/>
        </p:nvSpPr>
        <p:spPr>
          <a:xfrm>
            <a:off x="7388352" y="1879599"/>
            <a:ext cx="1371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8AA"/>
                </a:solidFill>
              </a:defRPr>
            </a:lvl1pPr>
          </a:lstStyle>
          <a:p>
            <a:pPr/>
            <a:r>
              <a:t>₹25,00,000</a:t>
            </a:r>
          </a:p>
        </p:txBody>
      </p:sp>
      <p:sp>
        <p:nvSpPr>
          <p:cNvPr id="569" name="Shape 12"/>
          <p:cNvSpPr/>
          <p:nvPr/>
        </p:nvSpPr>
        <p:spPr>
          <a:xfrm>
            <a:off x="7269480" y="2194560"/>
            <a:ext cx="1554482" cy="548642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Shape 13"/>
          <p:cNvSpPr/>
          <p:nvPr/>
        </p:nvSpPr>
        <p:spPr>
          <a:xfrm>
            <a:off x="7269480" y="2194560"/>
            <a:ext cx="54866" cy="54864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Text 14"/>
          <p:cNvSpPr txBox="1"/>
          <p:nvPr/>
        </p:nvSpPr>
        <p:spPr>
          <a:xfrm>
            <a:off x="7388352" y="2300223"/>
            <a:ext cx="1371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20% — GPU / Cloud Infra</a:t>
            </a:r>
          </a:p>
        </p:txBody>
      </p:sp>
      <p:sp>
        <p:nvSpPr>
          <p:cNvPr id="572" name="Text 15"/>
          <p:cNvSpPr txBox="1"/>
          <p:nvPr/>
        </p:nvSpPr>
        <p:spPr>
          <a:xfrm>
            <a:off x="7388352" y="2519679"/>
            <a:ext cx="1371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8AA"/>
                </a:solidFill>
              </a:defRPr>
            </a:lvl1pPr>
          </a:lstStyle>
          <a:p>
            <a:pPr/>
            <a:r>
              <a:t>₹10,00,000</a:t>
            </a:r>
          </a:p>
        </p:txBody>
      </p:sp>
      <p:sp>
        <p:nvSpPr>
          <p:cNvPr id="573" name="Shape 16"/>
          <p:cNvSpPr/>
          <p:nvPr/>
        </p:nvSpPr>
        <p:spPr>
          <a:xfrm>
            <a:off x="7269480" y="2834638"/>
            <a:ext cx="1554482" cy="548642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Shape 17"/>
          <p:cNvSpPr/>
          <p:nvPr/>
        </p:nvSpPr>
        <p:spPr>
          <a:xfrm>
            <a:off x="7269480" y="2834638"/>
            <a:ext cx="54866" cy="54864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Text 18"/>
          <p:cNvSpPr txBox="1"/>
          <p:nvPr/>
        </p:nvSpPr>
        <p:spPr>
          <a:xfrm>
            <a:off x="7388352" y="2940304"/>
            <a:ext cx="1371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15% — Edge Hardware</a:t>
            </a:r>
          </a:p>
        </p:txBody>
      </p:sp>
      <p:sp>
        <p:nvSpPr>
          <p:cNvPr id="576" name="Text 19"/>
          <p:cNvSpPr txBox="1"/>
          <p:nvPr/>
        </p:nvSpPr>
        <p:spPr>
          <a:xfrm>
            <a:off x="7388352" y="3159760"/>
            <a:ext cx="1371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8AA"/>
                </a:solidFill>
              </a:defRPr>
            </a:lvl1pPr>
          </a:lstStyle>
          <a:p>
            <a:pPr/>
            <a:r>
              <a:t>₹7,50,000</a:t>
            </a:r>
          </a:p>
        </p:txBody>
      </p:sp>
      <p:sp>
        <p:nvSpPr>
          <p:cNvPr id="577" name="Shape 20"/>
          <p:cNvSpPr/>
          <p:nvPr/>
        </p:nvSpPr>
        <p:spPr>
          <a:xfrm>
            <a:off x="7269480" y="3474720"/>
            <a:ext cx="1554482" cy="548642"/>
          </a:xfrm>
          <a:prstGeom prst="rect">
            <a:avLst/>
          </a:prstGeom>
          <a:solidFill>
            <a:srgbClr val="0D1630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Shape 21"/>
          <p:cNvSpPr/>
          <p:nvPr/>
        </p:nvSpPr>
        <p:spPr>
          <a:xfrm>
            <a:off x="7269480" y="3474720"/>
            <a:ext cx="54866" cy="548642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Text 22"/>
          <p:cNvSpPr txBox="1"/>
          <p:nvPr/>
        </p:nvSpPr>
        <p:spPr>
          <a:xfrm>
            <a:off x="7388352" y="3580384"/>
            <a:ext cx="1371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15% — Tools &amp; Operations</a:t>
            </a:r>
          </a:p>
        </p:txBody>
      </p:sp>
      <p:sp>
        <p:nvSpPr>
          <p:cNvPr id="580" name="Text 23"/>
          <p:cNvSpPr txBox="1"/>
          <p:nvPr/>
        </p:nvSpPr>
        <p:spPr>
          <a:xfrm>
            <a:off x="7388352" y="3799840"/>
            <a:ext cx="13716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8AA"/>
                </a:solidFill>
              </a:defRPr>
            </a:lvl1pPr>
          </a:lstStyle>
          <a:p>
            <a:pPr/>
            <a:r>
              <a:t>₹7,50,000</a:t>
            </a:r>
          </a:p>
        </p:txBody>
      </p:sp>
      <p:sp>
        <p:nvSpPr>
          <p:cNvPr id="581" name="Text 24"/>
          <p:cNvSpPr txBox="1"/>
          <p:nvPr/>
        </p:nvSpPr>
        <p:spPr>
          <a:xfrm>
            <a:off x="320038" y="2862580"/>
            <a:ext cx="39319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900">
                <a:solidFill>
                  <a:srgbClr val="8898AA"/>
                </a:solidFill>
              </a:defRPr>
            </a:lvl1pPr>
          </a:lstStyle>
          <a:p>
            <a:pPr/>
            <a:r>
              <a:t>WHAT THIS FUNDS</a:t>
            </a:r>
          </a:p>
        </p:txBody>
      </p:sp>
      <p:sp>
        <p:nvSpPr>
          <p:cNvPr id="582" name="Shape 25"/>
          <p:cNvSpPr/>
          <p:nvPr/>
        </p:nvSpPr>
        <p:spPr>
          <a:xfrm>
            <a:off x="411480" y="3154678"/>
            <a:ext cx="164595" cy="164595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Text 26"/>
          <p:cNvSpPr txBox="1"/>
          <p:nvPr/>
        </p:nvSpPr>
        <p:spPr>
          <a:xfrm>
            <a:off x="685798" y="3206418"/>
            <a:ext cx="347472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Stable orchestration engine v1.0</a:t>
            </a:r>
          </a:p>
        </p:txBody>
      </p:sp>
      <p:sp>
        <p:nvSpPr>
          <p:cNvPr id="584" name="Shape 27"/>
          <p:cNvSpPr/>
          <p:nvPr/>
        </p:nvSpPr>
        <p:spPr>
          <a:xfrm>
            <a:off x="411480" y="3566159"/>
            <a:ext cx="164595" cy="164595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5" name="Text 28"/>
          <p:cNvSpPr txBox="1"/>
          <p:nvPr/>
        </p:nvSpPr>
        <p:spPr>
          <a:xfrm>
            <a:off x="685798" y="3617898"/>
            <a:ext cx="347472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CLI + SDK public release</a:t>
            </a:r>
          </a:p>
        </p:txBody>
      </p:sp>
      <p:sp>
        <p:nvSpPr>
          <p:cNvPr id="586" name="Shape 29"/>
          <p:cNvSpPr/>
          <p:nvPr/>
        </p:nvSpPr>
        <p:spPr>
          <a:xfrm>
            <a:off x="411480" y="3977640"/>
            <a:ext cx="164595" cy="164595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7" name="Text 30"/>
          <p:cNvSpPr txBox="1"/>
          <p:nvPr/>
        </p:nvSpPr>
        <p:spPr>
          <a:xfrm>
            <a:off x="685798" y="4029377"/>
            <a:ext cx="347472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3–5 pilot users onboarded</a:t>
            </a:r>
          </a:p>
        </p:txBody>
      </p:sp>
      <p:sp>
        <p:nvSpPr>
          <p:cNvPr id="588" name="Shape 31"/>
          <p:cNvSpPr/>
          <p:nvPr/>
        </p:nvSpPr>
        <p:spPr>
          <a:xfrm>
            <a:off x="411480" y="4389120"/>
            <a:ext cx="164595" cy="164595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9" name="Text 32"/>
          <p:cNvSpPr txBox="1"/>
          <p:nvPr/>
        </p:nvSpPr>
        <p:spPr>
          <a:xfrm>
            <a:off x="685798" y="4440857"/>
            <a:ext cx="347472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EF8"/>
                </a:solidFill>
              </a:defRPr>
            </a:lvl1pPr>
          </a:lstStyle>
          <a:p>
            <a:pPr/>
            <a:r>
              <a:t>Edge deployment on Jetson hardware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630"/>
          </a:solidFill>
          <a:ln w="12700">
            <a:solidFill>
              <a:srgbClr val="0D163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Shape 2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00C2FF">
              <a:alpha val="8000"/>
            </a:srgbClr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" name="Shape 3"/>
          <p:cNvSpPr/>
          <p:nvPr/>
        </p:nvSpPr>
        <p:spPr>
          <a:xfrm>
            <a:off x="6858000" y="-1371601"/>
            <a:ext cx="3657600" cy="3657602"/>
          </a:xfrm>
          <a:prstGeom prst="ellipse">
            <a:avLst/>
          </a:prstGeom>
          <a:solidFill>
            <a:srgbClr val="7B5EA7">
              <a:alpha val="12000"/>
            </a:srgbClr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5" name="Text 4"/>
          <p:cNvSpPr txBox="1"/>
          <p:nvPr/>
        </p:nvSpPr>
        <p:spPr>
          <a:xfrm>
            <a:off x="457200" y="302259"/>
            <a:ext cx="8229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00C2FF"/>
                </a:solidFill>
              </a:defRPr>
            </a:lvl1pPr>
          </a:lstStyle>
          <a:p>
            <a:pPr/>
            <a:r>
              <a:t>VISION</a:t>
            </a:r>
          </a:p>
        </p:txBody>
      </p:sp>
      <p:sp>
        <p:nvSpPr>
          <p:cNvPr id="596" name="Text 5"/>
          <p:cNvSpPr txBox="1"/>
          <p:nvPr/>
        </p:nvSpPr>
        <p:spPr>
          <a:xfrm>
            <a:off x="457200" y="989200"/>
            <a:ext cx="8229600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Every machine will run AI natively.</a:t>
            </a:r>
          </a:p>
        </p:txBody>
      </p:sp>
      <p:sp>
        <p:nvSpPr>
          <p:cNvPr id="597" name="Text 6"/>
          <p:cNvSpPr txBox="1"/>
          <p:nvPr/>
        </p:nvSpPr>
        <p:spPr>
          <a:xfrm>
            <a:off x="457200" y="1720720"/>
            <a:ext cx="8229600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8898AA"/>
                </a:solidFill>
              </a:defRPr>
            </a:lvl1pPr>
          </a:lstStyle>
          <a:p>
            <a:pPr/>
            <a:r>
              <a:t>Every system will need orchestration.</a:t>
            </a:r>
          </a:p>
        </p:txBody>
      </p:sp>
      <p:sp>
        <p:nvSpPr>
          <p:cNvPr id="598" name="Shape 7"/>
          <p:cNvSpPr/>
          <p:nvPr/>
        </p:nvSpPr>
        <p:spPr>
          <a:xfrm>
            <a:off x="457200" y="2377438"/>
            <a:ext cx="3200400" cy="3657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9" name="Text 8"/>
          <p:cNvSpPr txBox="1"/>
          <p:nvPr/>
        </p:nvSpPr>
        <p:spPr>
          <a:xfrm>
            <a:off x="457200" y="2684342"/>
            <a:ext cx="8229600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600">
                <a:solidFill>
                  <a:srgbClr val="E8EEF8"/>
                </a:solidFill>
              </a:defRPr>
            </a:lvl1pPr>
          </a:lstStyle>
          <a:p>
            <a:pPr/>
            <a:r>
              <a:t>AIR OS becomes the control layer for intelligent systems —</a:t>
            </a:r>
          </a:p>
        </p:txBody>
      </p:sp>
      <p:sp>
        <p:nvSpPr>
          <p:cNvPr id="600" name="Text 9"/>
          <p:cNvSpPr txBox="1"/>
          <p:nvPr/>
        </p:nvSpPr>
        <p:spPr>
          <a:xfrm>
            <a:off x="457200" y="3095823"/>
            <a:ext cx="8229600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600">
                <a:solidFill>
                  <a:srgbClr val="00C2FF"/>
                </a:solidFill>
              </a:defRPr>
            </a:lvl1pPr>
          </a:lstStyle>
          <a:p>
            <a:pPr/>
            <a:r>
              <a:t>the operating system of the AI-powered physical world.</a:t>
            </a:r>
          </a:p>
        </p:txBody>
      </p:sp>
      <p:sp>
        <p:nvSpPr>
          <p:cNvPr id="601" name="Shape 10"/>
          <p:cNvSpPr/>
          <p:nvPr/>
        </p:nvSpPr>
        <p:spPr>
          <a:xfrm>
            <a:off x="457198" y="3749040"/>
            <a:ext cx="2560323" cy="914402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2" name="Text 11"/>
          <p:cNvSpPr txBox="1"/>
          <p:nvPr/>
        </p:nvSpPr>
        <p:spPr>
          <a:xfrm>
            <a:off x="548640" y="3903824"/>
            <a:ext cx="2377440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00C2FF"/>
                </a:solidFill>
              </a:defRPr>
            </a:lvl1pPr>
          </a:lstStyle>
          <a:p>
            <a:pPr/>
            <a:r>
              <a:t>1B+</a:t>
            </a:r>
          </a:p>
        </p:txBody>
      </p:sp>
      <p:sp>
        <p:nvSpPr>
          <p:cNvPr id="603" name="Text 12"/>
          <p:cNvSpPr txBox="1"/>
          <p:nvPr/>
        </p:nvSpPr>
        <p:spPr>
          <a:xfrm>
            <a:off x="548640" y="4348479"/>
            <a:ext cx="23774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8898AA"/>
                </a:solidFill>
              </a:defRPr>
            </a:lvl1pPr>
          </a:lstStyle>
          <a:p>
            <a:pPr/>
            <a:r>
              <a:t>Connected Robots by 2035</a:t>
            </a:r>
          </a:p>
        </p:txBody>
      </p:sp>
      <p:sp>
        <p:nvSpPr>
          <p:cNvPr id="604" name="Shape 13"/>
          <p:cNvSpPr/>
          <p:nvPr/>
        </p:nvSpPr>
        <p:spPr>
          <a:xfrm>
            <a:off x="3291840" y="3749040"/>
            <a:ext cx="2560322" cy="914402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5" name="Text 14"/>
          <p:cNvSpPr txBox="1"/>
          <p:nvPr/>
        </p:nvSpPr>
        <p:spPr>
          <a:xfrm>
            <a:off x="3383279" y="3903824"/>
            <a:ext cx="2377442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00C2FF"/>
                </a:solidFill>
              </a:defRPr>
            </a:lvl1pPr>
          </a:lstStyle>
          <a:p>
            <a:pPr/>
            <a:r>
              <a:t>$500B</a:t>
            </a:r>
          </a:p>
        </p:txBody>
      </p:sp>
      <p:sp>
        <p:nvSpPr>
          <p:cNvPr id="606" name="Text 15"/>
          <p:cNvSpPr txBox="1"/>
          <p:nvPr/>
        </p:nvSpPr>
        <p:spPr>
          <a:xfrm>
            <a:off x="3383279" y="4348479"/>
            <a:ext cx="23774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8898AA"/>
                </a:solidFill>
              </a:defRPr>
            </a:lvl1pPr>
          </a:lstStyle>
          <a:p>
            <a:pPr/>
            <a:r>
              <a:t>AI Infrastructure Market</a:t>
            </a:r>
          </a:p>
        </p:txBody>
      </p:sp>
      <p:sp>
        <p:nvSpPr>
          <p:cNvPr id="607" name="Shape 16"/>
          <p:cNvSpPr/>
          <p:nvPr/>
        </p:nvSpPr>
        <p:spPr>
          <a:xfrm>
            <a:off x="6126479" y="3749040"/>
            <a:ext cx="2560322" cy="914402"/>
          </a:xfrm>
          <a:prstGeom prst="rect">
            <a:avLst/>
          </a:prstGeom>
          <a:solidFill>
            <a:srgbClr val="111D3C"/>
          </a:solidFill>
          <a:ln w="12700">
            <a:solidFill>
              <a:srgbClr val="1E2D54"/>
            </a:solidFill>
          </a:ln>
          <a:effectLst>
            <a:outerShdw sx="100000" sy="100000" kx="0" ky="0" algn="b" rotWithShape="0" blurRad="152400" dist="38100" dir="8100000">
              <a:srgbClr val="000000">
                <a:alpha val="30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Text 17"/>
          <p:cNvSpPr txBox="1"/>
          <p:nvPr/>
        </p:nvSpPr>
        <p:spPr>
          <a:xfrm>
            <a:off x="6217920" y="3903824"/>
            <a:ext cx="2377442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00C2FF"/>
                </a:solidFill>
              </a:defRPr>
            </a:lvl1pPr>
          </a:lstStyle>
          <a:p>
            <a:pPr/>
            <a:r>
              <a:t>AIR OS</a:t>
            </a:r>
          </a:p>
        </p:txBody>
      </p:sp>
      <p:sp>
        <p:nvSpPr>
          <p:cNvPr id="609" name="Text 18"/>
          <p:cNvSpPr txBox="1"/>
          <p:nvPr/>
        </p:nvSpPr>
        <p:spPr>
          <a:xfrm>
            <a:off x="6217920" y="4348479"/>
            <a:ext cx="23774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8898AA"/>
                </a:solidFill>
              </a:defRPr>
            </a:lvl1pPr>
          </a:lstStyle>
          <a:p>
            <a:pPr/>
            <a:r>
              <a:t>The Runtime Layer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4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Shape 0"/>
          <p:cNvSpPr/>
          <p:nvPr/>
        </p:nvSpPr>
        <p:spPr>
          <a:xfrm>
            <a:off x="0" y="-2"/>
            <a:ext cx="9144000" cy="7315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D1630"/>
          </a:solidFill>
          <a:ln w="12700">
            <a:solidFill>
              <a:srgbClr val="0D163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Shape 2"/>
          <p:cNvSpPr/>
          <p:nvPr/>
        </p:nvSpPr>
        <p:spPr>
          <a:xfrm>
            <a:off x="6400800" y="0"/>
            <a:ext cx="54864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" name="Text 3"/>
          <p:cNvSpPr txBox="1"/>
          <p:nvPr/>
        </p:nvSpPr>
        <p:spPr>
          <a:xfrm>
            <a:off x="457198" y="692282"/>
            <a:ext cx="5760723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8898AA"/>
                </a:solidFill>
              </a:defRPr>
            </a:lvl1pPr>
          </a:lstStyle>
          <a:p>
            <a:pPr/>
            <a:r>
              <a:t>Let's Build the</a:t>
            </a:r>
          </a:p>
        </p:txBody>
      </p:sp>
      <p:sp>
        <p:nvSpPr>
          <p:cNvPr id="615" name="Text 4"/>
          <p:cNvSpPr txBox="1"/>
          <p:nvPr/>
        </p:nvSpPr>
        <p:spPr>
          <a:xfrm>
            <a:off x="457198" y="1332362"/>
            <a:ext cx="5760723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Operating System</a:t>
            </a:r>
          </a:p>
        </p:txBody>
      </p:sp>
      <p:sp>
        <p:nvSpPr>
          <p:cNvPr id="616" name="Text 5"/>
          <p:cNvSpPr txBox="1"/>
          <p:nvPr/>
        </p:nvSpPr>
        <p:spPr>
          <a:xfrm>
            <a:off x="457198" y="1972443"/>
            <a:ext cx="5760723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0C2FF"/>
                </a:solidFill>
              </a:defRPr>
            </a:lvl1pPr>
          </a:lstStyle>
          <a:p>
            <a:pPr/>
            <a:r>
              <a:t>for AI-Driven Machines.</a:t>
            </a:r>
          </a:p>
        </p:txBody>
      </p:sp>
      <p:sp>
        <p:nvSpPr>
          <p:cNvPr id="617" name="Shape 6"/>
          <p:cNvSpPr/>
          <p:nvPr/>
        </p:nvSpPr>
        <p:spPr>
          <a:xfrm>
            <a:off x="457200" y="2651760"/>
            <a:ext cx="2286000" cy="3657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Text 7"/>
          <p:cNvSpPr txBox="1"/>
          <p:nvPr/>
        </p:nvSpPr>
        <p:spPr>
          <a:xfrm>
            <a:off x="457198" y="3030527"/>
            <a:ext cx="576072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8898AA"/>
                </a:solidFill>
              </a:defRPr>
            </a:lvl1pPr>
          </a:lstStyle>
          <a:p>
            <a:pPr/>
            <a:r>
              <a:t>Join us at the ground floor of the AI-native robotics revolution.</a:t>
            </a:r>
          </a:p>
        </p:txBody>
      </p:sp>
      <p:sp>
        <p:nvSpPr>
          <p:cNvPr id="619" name="Shape 8"/>
          <p:cNvSpPr/>
          <p:nvPr/>
        </p:nvSpPr>
        <p:spPr>
          <a:xfrm>
            <a:off x="457198" y="3520440"/>
            <a:ext cx="2194563" cy="54864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Text 9"/>
          <p:cNvSpPr txBox="1"/>
          <p:nvPr/>
        </p:nvSpPr>
        <p:spPr>
          <a:xfrm>
            <a:off x="502919" y="3670607"/>
            <a:ext cx="2103123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040810"/>
                </a:solidFill>
              </a:defRPr>
            </a:lvl1pPr>
          </a:lstStyle>
          <a:p>
            <a:pPr/>
            <a:r>
              <a:t>Contact Us →</a:t>
            </a:r>
          </a:p>
        </p:txBody>
      </p:sp>
      <p:sp>
        <p:nvSpPr>
          <p:cNvPr id="621" name="Text 10"/>
          <p:cNvSpPr txBox="1"/>
          <p:nvPr/>
        </p:nvSpPr>
        <p:spPr>
          <a:xfrm>
            <a:off x="6537959" y="576578"/>
            <a:ext cx="24688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900">
                <a:solidFill>
                  <a:srgbClr val="00C2FF"/>
                </a:solidFill>
              </a:defRPr>
            </a:lvl1pPr>
          </a:lstStyle>
          <a:p>
            <a:pPr/>
            <a:r>
              <a:t>ENFIBIO TECHNOLOGIES</a:t>
            </a:r>
          </a:p>
        </p:txBody>
      </p:sp>
      <p:sp>
        <p:nvSpPr>
          <p:cNvPr id="622" name="Text 11"/>
          <p:cNvSpPr txBox="1"/>
          <p:nvPr/>
        </p:nvSpPr>
        <p:spPr>
          <a:xfrm>
            <a:off x="6537959" y="873760"/>
            <a:ext cx="24688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900">
                <a:solidFill>
                  <a:srgbClr val="00C2FF"/>
                </a:solidFill>
              </a:defRPr>
            </a:lvl1pPr>
          </a:lstStyle>
          <a:p>
            <a:pPr/>
            <a:r>
              <a:t>PVT. LTD.</a:t>
            </a:r>
          </a:p>
        </p:txBody>
      </p:sp>
      <p:sp>
        <p:nvSpPr>
          <p:cNvPr id="623" name="Shape 12"/>
          <p:cNvSpPr/>
          <p:nvPr/>
        </p:nvSpPr>
        <p:spPr>
          <a:xfrm>
            <a:off x="6537959" y="1142999"/>
            <a:ext cx="2286002" cy="36579"/>
          </a:xfrm>
          <a:prstGeom prst="rect">
            <a:avLst/>
          </a:prstGeom>
          <a:solidFill>
            <a:srgbClr val="1E2D54"/>
          </a:solidFill>
          <a:ln w="12700">
            <a:solidFill>
              <a:srgbClr val="1E2D5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4" name="Text 13"/>
          <p:cNvSpPr txBox="1"/>
          <p:nvPr/>
        </p:nvSpPr>
        <p:spPr>
          <a:xfrm>
            <a:off x="6537959" y="1445258"/>
            <a:ext cx="24688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800">
                <a:solidFill>
                  <a:srgbClr val="00C2FF"/>
                </a:solidFill>
              </a:defRPr>
            </a:lvl1pPr>
          </a:lstStyle>
          <a:p>
            <a:pPr/>
            <a:r>
              <a:t>EMAIL</a:t>
            </a:r>
          </a:p>
        </p:txBody>
      </p:sp>
      <p:sp>
        <p:nvSpPr>
          <p:cNvPr id="625" name="Text 14"/>
          <p:cNvSpPr txBox="1"/>
          <p:nvPr/>
        </p:nvSpPr>
        <p:spPr>
          <a:xfrm>
            <a:off x="6537959" y="1746294"/>
            <a:ext cx="2468882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E8EEF8"/>
                </a:solidFill>
              </a:defRPr>
            </a:pPr>
            <a:r>
              <a:t>enfibiotechnologiespvtltd</a:t>
            </a:r>
          </a:p>
          <a:p>
            <a:pPr>
              <a:defRPr sz="1000">
                <a:solidFill>
                  <a:srgbClr val="E8EEF8"/>
                </a:solidFill>
              </a:defRPr>
            </a:pPr>
            <a:r>
              <a:t>@gmail.com</a:t>
            </a:r>
          </a:p>
        </p:txBody>
      </p:sp>
      <p:sp>
        <p:nvSpPr>
          <p:cNvPr id="626" name="Text 15"/>
          <p:cNvSpPr txBox="1"/>
          <p:nvPr/>
        </p:nvSpPr>
        <p:spPr>
          <a:xfrm>
            <a:off x="6537959" y="2496820"/>
            <a:ext cx="24688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800">
                <a:solidFill>
                  <a:srgbClr val="00C2FF"/>
                </a:solidFill>
              </a:defRPr>
            </a:lvl1pPr>
          </a:lstStyle>
          <a:p>
            <a:pPr/>
            <a:r>
              <a:t>PRODUCT</a:t>
            </a:r>
          </a:p>
        </p:txBody>
      </p:sp>
      <p:sp>
        <p:nvSpPr>
          <p:cNvPr id="627" name="Text 16"/>
          <p:cNvSpPr txBox="1"/>
          <p:nvPr/>
        </p:nvSpPr>
        <p:spPr>
          <a:xfrm>
            <a:off x="6537959" y="2880404"/>
            <a:ext cx="246888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E8EEF8"/>
                </a:solidFill>
              </a:defRPr>
            </a:lvl1pPr>
          </a:lstStyle>
          <a:p>
            <a:pPr/>
            <a:r>
              <a:t>AIR OS — AI Orchestration Runtime</a:t>
            </a:r>
          </a:p>
        </p:txBody>
      </p:sp>
      <p:sp>
        <p:nvSpPr>
          <p:cNvPr id="628" name="Text 17"/>
          <p:cNvSpPr txBox="1"/>
          <p:nvPr/>
        </p:nvSpPr>
        <p:spPr>
          <a:xfrm>
            <a:off x="6537959" y="3548379"/>
            <a:ext cx="24688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800">
                <a:solidFill>
                  <a:srgbClr val="00C2FF"/>
                </a:solidFill>
              </a:defRPr>
            </a:lvl1pPr>
          </a:lstStyle>
          <a:p>
            <a:pPr/>
            <a:r>
              <a:t>ROUND</a:t>
            </a:r>
          </a:p>
        </p:txBody>
      </p:sp>
      <p:sp>
        <p:nvSpPr>
          <p:cNvPr id="629" name="Text 18"/>
          <p:cNvSpPr txBox="1"/>
          <p:nvPr/>
        </p:nvSpPr>
        <p:spPr>
          <a:xfrm>
            <a:off x="6537959" y="3931964"/>
            <a:ext cx="246888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E8EEF8"/>
                </a:solidFill>
              </a:defRPr>
            </a:lvl1pPr>
          </a:lstStyle>
          <a:p>
            <a:pPr/>
            <a:r>
              <a:t>₹50,00,000 Pre-Seed</a:t>
            </a:r>
          </a:p>
        </p:txBody>
      </p:sp>
      <p:sp>
        <p:nvSpPr>
          <p:cNvPr id="630" name="Shape 19"/>
          <p:cNvSpPr/>
          <p:nvPr/>
        </p:nvSpPr>
        <p:spPr>
          <a:xfrm>
            <a:off x="0" y="4983479"/>
            <a:ext cx="9144000" cy="160022"/>
          </a:xfrm>
          <a:prstGeom prst="rect">
            <a:avLst/>
          </a:prstGeom>
          <a:solidFill>
            <a:srgbClr val="0D1630"/>
          </a:solidFill>
          <a:ln w="12700">
            <a:solidFill>
              <a:srgbClr val="0D163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1" name="Text 20"/>
          <p:cNvSpPr txBox="1"/>
          <p:nvPr/>
        </p:nvSpPr>
        <p:spPr>
          <a:xfrm>
            <a:off x="45718" y="4970430"/>
            <a:ext cx="9052564" cy="186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700">
                <a:solidFill>
                  <a:srgbClr val="8898AA"/>
                </a:solidFill>
              </a:defRPr>
            </a:lvl1pPr>
          </a:lstStyle>
          <a:p>
            <a:pPr/>
            <a:r>
              <a:t>© 2026  Enfibio Technologies Pvt. Ltd.  |  CONFIDENTIAL  Not for Distribution</a:t>
            </a:r>
          </a:p>
        </p:txBody>
      </p:sp>
      <p:sp>
        <p:nvSpPr>
          <p:cNvPr id="632" name="enfibiotechnologiespvtltd@gmail.com"/>
          <p:cNvSpPr txBox="1"/>
          <p:nvPr/>
        </p:nvSpPr>
        <p:spPr>
          <a:xfrm>
            <a:off x="3205571" y="3680505"/>
            <a:ext cx="2589348" cy="228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solidFill>
                  <a:srgbClr val="E8EEF8"/>
                </a:solidFill>
              </a:defRPr>
            </a:lvl1pPr>
          </a:lstStyle>
          <a:p>
            <a:pPr/>
            <a:r>
              <a:t>enfibiotechnologiespvtltd@gmail.com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